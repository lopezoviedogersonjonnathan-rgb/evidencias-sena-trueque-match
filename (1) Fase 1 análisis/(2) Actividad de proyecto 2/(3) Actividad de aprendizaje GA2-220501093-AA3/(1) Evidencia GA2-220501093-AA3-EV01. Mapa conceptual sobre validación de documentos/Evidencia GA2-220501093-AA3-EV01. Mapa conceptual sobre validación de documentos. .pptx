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56" r:id="rId2"/>
  </p:sldIdLst>
  <p:sldSz cx="47999650" cy="3599973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FFFF00"/>
    <a:srgbClr val="66FF33"/>
    <a:srgbClr val="00FF00"/>
    <a:srgbClr val="85A8B6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58" autoAdjust="0"/>
  </p:normalViewPr>
  <p:slideViewPr>
    <p:cSldViewPr snapToGrid="0">
      <p:cViewPr varScale="1">
        <p:scale>
          <a:sx n="13" d="100"/>
          <a:sy n="13" d="100"/>
        </p:scale>
        <p:origin x="186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1A611-5158-46A3-A3BC-B113B7F97C69}" type="datetimeFigureOut">
              <a:rPr lang="es-CO" smtClean="0"/>
              <a:t>10/08/2025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EC53C-DB8A-4473-910F-102CB78DA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4365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49626" rtl="0" eaLnBrk="1" latinLnBrk="0" hangingPunct="1">
      <a:defRPr sz="5183" kern="1200">
        <a:solidFill>
          <a:schemeClr val="tx1"/>
        </a:solidFill>
        <a:latin typeface="+mn-lt"/>
        <a:ea typeface="+mn-ea"/>
        <a:cs typeface="+mn-cs"/>
      </a:defRPr>
    </a:lvl1pPr>
    <a:lvl2pPr marL="1974813" algn="l" defTabSz="3949626" rtl="0" eaLnBrk="1" latinLnBrk="0" hangingPunct="1">
      <a:defRPr sz="5183" kern="1200">
        <a:solidFill>
          <a:schemeClr val="tx1"/>
        </a:solidFill>
        <a:latin typeface="+mn-lt"/>
        <a:ea typeface="+mn-ea"/>
        <a:cs typeface="+mn-cs"/>
      </a:defRPr>
    </a:lvl2pPr>
    <a:lvl3pPr marL="3949626" algn="l" defTabSz="3949626" rtl="0" eaLnBrk="1" latinLnBrk="0" hangingPunct="1">
      <a:defRPr sz="5183" kern="1200">
        <a:solidFill>
          <a:schemeClr val="tx1"/>
        </a:solidFill>
        <a:latin typeface="+mn-lt"/>
        <a:ea typeface="+mn-ea"/>
        <a:cs typeface="+mn-cs"/>
      </a:defRPr>
    </a:lvl3pPr>
    <a:lvl4pPr marL="5924440" algn="l" defTabSz="3949626" rtl="0" eaLnBrk="1" latinLnBrk="0" hangingPunct="1">
      <a:defRPr sz="5183" kern="1200">
        <a:solidFill>
          <a:schemeClr val="tx1"/>
        </a:solidFill>
        <a:latin typeface="+mn-lt"/>
        <a:ea typeface="+mn-ea"/>
        <a:cs typeface="+mn-cs"/>
      </a:defRPr>
    </a:lvl4pPr>
    <a:lvl5pPr marL="7899253" algn="l" defTabSz="3949626" rtl="0" eaLnBrk="1" latinLnBrk="0" hangingPunct="1">
      <a:defRPr sz="5183" kern="1200">
        <a:solidFill>
          <a:schemeClr val="tx1"/>
        </a:solidFill>
        <a:latin typeface="+mn-lt"/>
        <a:ea typeface="+mn-ea"/>
        <a:cs typeface="+mn-cs"/>
      </a:defRPr>
    </a:lvl5pPr>
    <a:lvl6pPr marL="9874066" algn="l" defTabSz="3949626" rtl="0" eaLnBrk="1" latinLnBrk="0" hangingPunct="1">
      <a:defRPr sz="5183" kern="1200">
        <a:solidFill>
          <a:schemeClr val="tx1"/>
        </a:solidFill>
        <a:latin typeface="+mn-lt"/>
        <a:ea typeface="+mn-ea"/>
        <a:cs typeface="+mn-cs"/>
      </a:defRPr>
    </a:lvl6pPr>
    <a:lvl7pPr marL="11848879" algn="l" defTabSz="3949626" rtl="0" eaLnBrk="1" latinLnBrk="0" hangingPunct="1">
      <a:defRPr sz="5183" kern="1200">
        <a:solidFill>
          <a:schemeClr val="tx1"/>
        </a:solidFill>
        <a:latin typeface="+mn-lt"/>
        <a:ea typeface="+mn-ea"/>
        <a:cs typeface="+mn-cs"/>
      </a:defRPr>
    </a:lvl7pPr>
    <a:lvl8pPr marL="13823693" algn="l" defTabSz="3949626" rtl="0" eaLnBrk="1" latinLnBrk="0" hangingPunct="1">
      <a:defRPr sz="5183" kern="1200">
        <a:solidFill>
          <a:schemeClr val="tx1"/>
        </a:solidFill>
        <a:latin typeface="+mn-lt"/>
        <a:ea typeface="+mn-ea"/>
        <a:cs typeface="+mn-cs"/>
      </a:defRPr>
    </a:lvl8pPr>
    <a:lvl9pPr marL="15798506" algn="l" defTabSz="3949626" rtl="0" eaLnBrk="1" latinLnBrk="0" hangingPunct="1">
      <a:defRPr sz="518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EC53C-DB8A-4473-910F-102CB78DAC5C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0539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9974" y="5891626"/>
            <a:ext cx="40799703" cy="12533242"/>
          </a:xfrm>
        </p:spPr>
        <p:txBody>
          <a:bodyPr anchor="b"/>
          <a:lstStyle>
            <a:lvl1pPr algn="ctr">
              <a:defRPr sz="3149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99956" y="18908198"/>
            <a:ext cx="35999738" cy="8691601"/>
          </a:xfrm>
        </p:spPr>
        <p:txBody>
          <a:bodyPr/>
          <a:lstStyle>
            <a:lvl1pPr marL="0" indent="0" algn="ctr">
              <a:buNone/>
              <a:defRPr sz="12598"/>
            </a:lvl1pPr>
            <a:lvl2pPr marL="2399980" indent="0" algn="ctr">
              <a:buNone/>
              <a:defRPr sz="10499"/>
            </a:lvl2pPr>
            <a:lvl3pPr marL="4799960" indent="0" algn="ctr">
              <a:buNone/>
              <a:defRPr sz="9449"/>
            </a:lvl3pPr>
            <a:lvl4pPr marL="7199940" indent="0" algn="ctr">
              <a:buNone/>
              <a:defRPr sz="8399"/>
            </a:lvl4pPr>
            <a:lvl5pPr marL="9599920" indent="0" algn="ctr">
              <a:buNone/>
              <a:defRPr sz="8399"/>
            </a:lvl5pPr>
            <a:lvl6pPr marL="11999900" indent="0" algn="ctr">
              <a:buNone/>
              <a:defRPr sz="8399"/>
            </a:lvl6pPr>
            <a:lvl7pPr marL="14399880" indent="0" algn="ctr">
              <a:buNone/>
              <a:defRPr sz="8399"/>
            </a:lvl7pPr>
            <a:lvl8pPr marL="16799860" indent="0" algn="ctr">
              <a:buNone/>
              <a:defRPr sz="8399"/>
            </a:lvl8pPr>
            <a:lvl9pPr marL="19199840" indent="0" algn="ctr">
              <a:buNone/>
              <a:defRPr sz="8399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8D3-7289-4D27-A6E9-33B80A56E1CE}" type="datetimeFigureOut">
              <a:rPr lang="es-CO" smtClean="0"/>
              <a:t>10/08/2025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AFA6-4E9F-4791-BFCF-29728471721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9657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8D3-7289-4D27-A6E9-33B80A56E1CE}" type="datetimeFigureOut">
              <a:rPr lang="es-CO" smtClean="0"/>
              <a:t>10/08/2025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AFA6-4E9F-4791-BFCF-29728471721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2092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4979" y="8974945"/>
            <a:ext cx="41399698" cy="14974888"/>
          </a:xfrm>
        </p:spPr>
        <p:txBody>
          <a:bodyPr anchor="b"/>
          <a:lstStyle>
            <a:lvl1pPr>
              <a:defRPr sz="31496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74979" y="24091502"/>
            <a:ext cx="41399698" cy="7874940"/>
          </a:xfrm>
        </p:spPr>
        <p:txBody>
          <a:bodyPr/>
          <a:lstStyle>
            <a:lvl1pPr marL="0" indent="0">
              <a:buNone/>
              <a:defRPr sz="12598">
                <a:solidFill>
                  <a:schemeClr val="tx1">
                    <a:tint val="82000"/>
                  </a:schemeClr>
                </a:solidFill>
              </a:defRPr>
            </a:lvl1pPr>
            <a:lvl2pPr marL="2399980" indent="0">
              <a:buNone/>
              <a:defRPr sz="10499">
                <a:solidFill>
                  <a:schemeClr val="tx1">
                    <a:tint val="82000"/>
                  </a:schemeClr>
                </a:solidFill>
              </a:defRPr>
            </a:lvl2pPr>
            <a:lvl3pPr marL="4799960" indent="0">
              <a:buNone/>
              <a:defRPr sz="9449">
                <a:solidFill>
                  <a:schemeClr val="tx1">
                    <a:tint val="82000"/>
                  </a:schemeClr>
                </a:solidFill>
              </a:defRPr>
            </a:lvl3pPr>
            <a:lvl4pPr marL="7199940" indent="0">
              <a:buNone/>
              <a:defRPr sz="8399">
                <a:solidFill>
                  <a:schemeClr val="tx1">
                    <a:tint val="82000"/>
                  </a:schemeClr>
                </a:solidFill>
              </a:defRPr>
            </a:lvl4pPr>
            <a:lvl5pPr marL="9599920" indent="0">
              <a:buNone/>
              <a:defRPr sz="8399">
                <a:solidFill>
                  <a:schemeClr val="tx1">
                    <a:tint val="82000"/>
                  </a:schemeClr>
                </a:solidFill>
              </a:defRPr>
            </a:lvl5pPr>
            <a:lvl6pPr marL="11999900" indent="0">
              <a:buNone/>
              <a:defRPr sz="8399">
                <a:solidFill>
                  <a:schemeClr val="tx1">
                    <a:tint val="82000"/>
                  </a:schemeClr>
                </a:solidFill>
              </a:defRPr>
            </a:lvl6pPr>
            <a:lvl7pPr marL="14399880" indent="0">
              <a:buNone/>
              <a:defRPr sz="8399">
                <a:solidFill>
                  <a:schemeClr val="tx1">
                    <a:tint val="82000"/>
                  </a:schemeClr>
                </a:solidFill>
              </a:defRPr>
            </a:lvl7pPr>
            <a:lvl8pPr marL="16799860" indent="0">
              <a:buNone/>
              <a:defRPr sz="8399">
                <a:solidFill>
                  <a:schemeClr val="tx1">
                    <a:tint val="82000"/>
                  </a:schemeClr>
                </a:solidFill>
              </a:defRPr>
            </a:lvl8pPr>
            <a:lvl9pPr marL="19199840" indent="0">
              <a:buNone/>
              <a:defRPr sz="839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8D3-7289-4D27-A6E9-33B80A56E1CE}" type="datetimeFigureOut">
              <a:rPr lang="es-CO" smtClean="0"/>
              <a:t>10/08/2025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AFA6-4E9F-4791-BFCF-29728471721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2469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99976" y="9583264"/>
            <a:ext cx="20399851" cy="228415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299823" y="9583264"/>
            <a:ext cx="20399851" cy="228415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8D3-7289-4D27-A6E9-33B80A56E1CE}" type="datetimeFigureOut">
              <a:rPr lang="es-CO" smtClean="0"/>
              <a:t>10/08/2025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AFA6-4E9F-4791-BFCF-29728471721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5433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6228" y="1916661"/>
            <a:ext cx="41399698" cy="695828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06233" y="8824938"/>
            <a:ext cx="20306099" cy="4324966"/>
          </a:xfrm>
        </p:spPr>
        <p:txBody>
          <a:bodyPr anchor="b"/>
          <a:lstStyle>
            <a:lvl1pPr marL="0" indent="0">
              <a:buNone/>
              <a:defRPr sz="12598" b="1"/>
            </a:lvl1pPr>
            <a:lvl2pPr marL="2399980" indent="0">
              <a:buNone/>
              <a:defRPr sz="10499" b="1"/>
            </a:lvl2pPr>
            <a:lvl3pPr marL="4799960" indent="0">
              <a:buNone/>
              <a:defRPr sz="9449" b="1"/>
            </a:lvl3pPr>
            <a:lvl4pPr marL="7199940" indent="0">
              <a:buNone/>
              <a:defRPr sz="8399" b="1"/>
            </a:lvl4pPr>
            <a:lvl5pPr marL="9599920" indent="0">
              <a:buNone/>
              <a:defRPr sz="8399" b="1"/>
            </a:lvl5pPr>
            <a:lvl6pPr marL="11999900" indent="0">
              <a:buNone/>
              <a:defRPr sz="8399" b="1"/>
            </a:lvl6pPr>
            <a:lvl7pPr marL="14399880" indent="0">
              <a:buNone/>
              <a:defRPr sz="8399" b="1"/>
            </a:lvl7pPr>
            <a:lvl8pPr marL="16799860" indent="0">
              <a:buNone/>
              <a:defRPr sz="8399" b="1"/>
            </a:lvl8pPr>
            <a:lvl9pPr marL="19199840" indent="0">
              <a:buNone/>
              <a:defRPr sz="8399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06233" y="13149904"/>
            <a:ext cx="20306099" cy="193415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299826" y="8824938"/>
            <a:ext cx="20406103" cy="4324966"/>
          </a:xfrm>
        </p:spPr>
        <p:txBody>
          <a:bodyPr anchor="b"/>
          <a:lstStyle>
            <a:lvl1pPr marL="0" indent="0">
              <a:buNone/>
              <a:defRPr sz="12598" b="1"/>
            </a:lvl1pPr>
            <a:lvl2pPr marL="2399980" indent="0">
              <a:buNone/>
              <a:defRPr sz="10499" b="1"/>
            </a:lvl2pPr>
            <a:lvl3pPr marL="4799960" indent="0">
              <a:buNone/>
              <a:defRPr sz="9449" b="1"/>
            </a:lvl3pPr>
            <a:lvl4pPr marL="7199940" indent="0">
              <a:buNone/>
              <a:defRPr sz="8399" b="1"/>
            </a:lvl4pPr>
            <a:lvl5pPr marL="9599920" indent="0">
              <a:buNone/>
              <a:defRPr sz="8399" b="1"/>
            </a:lvl5pPr>
            <a:lvl6pPr marL="11999900" indent="0">
              <a:buNone/>
              <a:defRPr sz="8399" b="1"/>
            </a:lvl6pPr>
            <a:lvl7pPr marL="14399880" indent="0">
              <a:buNone/>
              <a:defRPr sz="8399" b="1"/>
            </a:lvl7pPr>
            <a:lvl8pPr marL="16799860" indent="0">
              <a:buNone/>
              <a:defRPr sz="8399" b="1"/>
            </a:lvl8pPr>
            <a:lvl9pPr marL="19199840" indent="0">
              <a:buNone/>
              <a:defRPr sz="8399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299826" y="13149904"/>
            <a:ext cx="20406103" cy="193415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8D3-7289-4D27-A6E9-33B80A56E1CE}" type="datetimeFigureOut">
              <a:rPr lang="es-CO" smtClean="0"/>
              <a:t>10/08/2025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AFA6-4E9F-4791-BFCF-29728471721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194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8D3-7289-4D27-A6E9-33B80A56E1CE}" type="datetimeFigureOut">
              <a:rPr lang="es-CO" smtClean="0"/>
              <a:t>10/08/2025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AFA6-4E9F-4791-BFCF-29728471721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1057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8D3-7289-4D27-A6E9-33B80A56E1CE}" type="datetimeFigureOut">
              <a:rPr lang="es-CO" smtClean="0"/>
              <a:t>10/08/2025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AFA6-4E9F-4791-BFCF-29728471721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154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6228" y="2399982"/>
            <a:ext cx="15481136" cy="8399939"/>
          </a:xfrm>
        </p:spPr>
        <p:txBody>
          <a:bodyPr anchor="b"/>
          <a:lstStyle>
            <a:lvl1pPr>
              <a:defRPr sz="1679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06103" y="5183304"/>
            <a:ext cx="24299823" cy="25583147"/>
          </a:xfrm>
        </p:spPr>
        <p:txBody>
          <a:bodyPr/>
          <a:lstStyle>
            <a:lvl1pPr>
              <a:defRPr sz="16798"/>
            </a:lvl1pPr>
            <a:lvl2pPr>
              <a:defRPr sz="14698"/>
            </a:lvl2pPr>
            <a:lvl3pPr>
              <a:defRPr sz="12598"/>
            </a:lvl3pPr>
            <a:lvl4pPr>
              <a:defRPr sz="10499"/>
            </a:lvl4pPr>
            <a:lvl5pPr>
              <a:defRPr sz="10499"/>
            </a:lvl5pPr>
            <a:lvl6pPr>
              <a:defRPr sz="10499"/>
            </a:lvl6pPr>
            <a:lvl7pPr>
              <a:defRPr sz="10499"/>
            </a:lvl7pPr>
            <a:lvl8pPr>
              <a:defRPr sz="10499"/>
            </a:lvl8pPr>
            <a:lvl9pPr>
              <a:defRPr sz="1049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06228" y="10799922"/>
            <a:ext cx="15481136" cy="20008190"/>
          </a:xfrm>
        </p:spPr>
        <p:txBody>
          <a:bodyPr/>
          <a:lstStyle>
            <a:lvl1pPr marL="0" indent="0">
              <a:buNone/>
              <a:defRPr sz="8399"/>
            </a:lvl1pPr>
            <a:lvl2pPr marL="2399980" indent="0">
              <a:buNone/>
              <a:defRPr sz="7349"/>
            </a:lvl2pPr>
            <a:lvl3pPr marL="4799960" indent="0">
              <a:buNone/>
              <a:defRPr sz="6299"/>
            </a:lvl3pPr>
            <a:lvl4pPr marL="7199940" indent="0">
              <a:buNone/>
              <a:defRPr sz="5249"/>
            </a:lvl4pPr>
            <a:lvl5pPr marL="9599920" indent="0">
              <a:buNone/>
              <a:defRPr sz="5249"/>
            </a:lvl5pPr>
            <a:lvl6pPr marL="11999900" indent="0">
              <a:buNone/>
              <a:defRPr sz="5249"/>
            </a:lvl6pPr>
            <a:lvl7pPr marL="14399880" indent="0">
              <a:buNone/>
              <a:defRPr sz="5249"/>
            </a:lvl7pPr>
            <a:lvl8pPr marL="16799860" indent="0">
              <a:buNone/>
              <a:defRPr sz="5249"/>
            </a:lvl8pPr>
            <a:lvl9pPr marL="19199840" indent="0">
              <a:buNone/>
              <a:defRPr sz="52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8D3-7289-4D27-A6E9-33B80A56E1CE}" type="datetimeFigureOut">
              <a:rPr lang="es-CO" smtClean="0"/>
              <a:t>10/08/2025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AFA6-4E9F-4791-BFCF-29728471721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4248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6228" y="2399982"/>
            <a:ext cx="15481136" cy="8399939"/>
          </a:xfrm>
        </p:spPr>
        <p:txBody>
          <a:bodyPr anchor="b"/>
          <a:lstStyle>
            <a:lvl1pPr>
              <a:defRPr sz="1679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406103" y="5183304"/>
            <a:ext cx="24299823" cy="25583147"/>
          </a:xfrm>
        </p:spPr>
        <p:txBody>
          <a:bodyPr anchor="t"/>
          <a:lstStyle>
            <a:lvl1pPr marL="0" indent="0">
              <a:buNone/>
              <a:defRPr sz="16798"/>
            </a:lvl1pPr>
            <a:lvl2pPr marL="2399980" indent="0">
              <a:buNone/>
              <a:defRPr sz="14698"/>
            </a:lvl2pPr>
            <a:lvl3pPr marL="4799960" indent="0">
              <a:buNone/>
              <a:defRPr sz="12598"/>
            </a:lvl3pPr>
            <a:lvl4pPr marL="7199940" indent="0">
              <a:buNone/>
              <a:defRPr sz="10499"/>
            </a:lvl4pPr>
            <a:lvl5pPr marL="9599920" indent="0">
              <a:buNone/>
              <a:defRPr sz="10499"/>
            </a:lvl5pPr>
            <a:lvl6pPr marL="11999900" indent="0">
              <a:buNone/>
              <a:defRPr sz="10499"/>
            </a:lvl6pPr>
            <a:lvl7pPr marL="14399880" indent="0">
              <a:buNone/>
              <a:defRPr sz="10499"/>
            </a:lvl7pPr>
            <a:lvl8pPr marL="16799860" indent="0">
              <a:buNone/>
              <a:defRPr sz="10499"/>
            </a:lvl8pPr>
            <a:lvl9pPr marL="19199840" indent="0">
              <a:buNone/>
              <a:defRPr sz="10499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06228" y="10799922"/>
            <a:ext cx="15481136" cy="20008190"/>
          </a:xfrm>
        </p:spPr>
        <p:txBody>
          <a:bodyPr/>
          <a:lstStyle>
            <a:lvl1pPr marL="0" indent="0">
              <a:buNone/>
              <a:defRPr sz="8399"/>
            </a:lvl1pPr>
            <a:lvl2pPr marL="2399980" indent="0">
              <a:buNone/>
              <a:defRPr sz="7349"/>
            </a:lvl2pPr>
            <a:lvl3pPr marL="4799960" indent="0">
              <a:buNone/>
              <a:defRPr sz="6299"/>
            </a:lvl3pPr>
            <a:lvl4pPr marL="7199940" indent="0">
              <a:buNone/>
              <a:defRPr sz="5249"/>
            </a:lvl4pPr>
            <a:lvl5pPr marL="9599920" indent="0">
              <a:buNone/>
              <a:defRPr sz="5249"/>
            </a:lvl5pPr>
            <a:lvl6pPr marL="11999900" indent="0">
              <a:buNone/>
              <a:defRPr sz="5249"/>
            </a:lvl6pPr>
            <a:lvl7pPr marL="14399880" indent="0">
              <a:buNone/>
              <a:defRPr sz="5249"/>
            </a:lvl7pPr>
            <a:lvl8pPr marL="16799860" indent="0">
              <a:buNone/>
              <a:defRPr sz="5249"/>
            </a:lvl8pPr>
            <a:lvl9pPr marL="19199840" indent="0">
              <a:buNone/>
              <a:defRPr sz="52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8D3-7289-4D27-A6E9-33B80A56E1CE}" type="datetimeFigureOut">
              <a:rPr lang="es-CO" smtClean="0"/>
              <a:t>10/08/2025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AFA6-4E9F-4791-BFCF-29728471721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5104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8D3-7289-4D27-A6E9-33B80A56E1CE}" type="datetimeFigureOut">
              <a:rPr lang="es-CO" smtClean="0"/>
              <a:t>10/08/2025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AFA6-4E9F-4791-BFCF-29728471721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21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349752" y="1916653"/>
            <a:ext cx="10349925" cy="3050811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9979" y="1916653"/>
            <a:ext cx="30449778" cy="3050811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168D3-7289-4D27-A6E9-33B80A56E1CE}" type="datetimeFigureOut">
              <a:rPr lang="es-CO" smtClean="0"/>
              <a:t>10/08/2025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AFA6-4E9F-4791-BFCF-29728471721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4195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99976" y="1916661"/>
            <a:ext cx="4139969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99976" y="9583264"/>
            <a:ext cx="4139969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99976" y="33366432"/>
            <a:ext cx="1079992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168D3-7289-4D27-A6E9-33B80A56E1CE}" type="datetimeFigureOut">
              <a:rPr lang="es-CO" smtClean="0"/>
              <a:t>10/08/2025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899884" y="33366432"/>
            <a:ext cx="1619988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899753" y="33366432"/>
            <a:ext cx="1079992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AAFA6-4E9F-4791-BFCF-29728471721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9415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4799960" rtl="0" eaLnBrk="1" latinLnBrk="0" hangingPunct="1">
        <a:lnSpc>
          <a:spcPct val="90000"/>
        </a:lnSpc>
        <a:spcBef>
          <a:spcPct val="0"/>
        </a:spcBef>
        <a:buNone/>
        <a:defRPr sz="230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90" indent="-1199990" algn="l" defTabSz="4799960" rtl="0" eaLnBrk="1" latinLnBrk="0" hangingPunct="1">
        <a:lnSpc>
          <a:spcPct val="90000"/>
        </a:lnSpc>
        <a:spcBef>
          <a:spcPts val="5249"/>
        </a:spcBef>
        <a:buFont typeface="Arial" panose="020B0604020202020204" pitchFamily="34" charset="0"/>
        <a:buChar char="•"/>
        <a:defRPr sz="14698" kern="1200">
          <a:solidFill>
            <a:schemeClr val="tx1"/>
          </a:solidFill>
          <a:latin typeface="+mn-lt"/>
          <a:ea typeface="+mn-ea"/>
          <a:cs typeface="+mn-cs"/>
        </a:defRPr>
      </a:lvl1pPr>
      <a:lvl2pPr marL="3599970" indent="-1199990" algn="l" defTabSz="4799960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12598" kern="1200">
          <a:solidFill>
            <a:schemeClr val="tx1"/>
          </a:solidFill>
          <a:latin typeface="+mn-lt"/>
          <a:ea typeface="+mn-ea"/>
          <a:cs typeface="+mn-cs"/>
        </a:defRPr>
      </a:lvl2pPr>
      <a:lvl3pPr marL="5999950" indent="-1199990" algn="l" defTabSz="4799960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10499" kern="1200">
          <a:solidFill>
            <a:schemeClr val="tx1"/>
          </a:solidFill>
          <a:latin typeface="+mn-lt"/>
          <a:ea typeface="+mn-ea"/>
          <a:cs typeface="+mn-cs"/>
        </a:defRPr>
      </a:lvl3pPr>
      <a:lvl4pPr marL="8399930" indent="-1199990" algn="l" defTabSz="4799960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4pPr>
      <a:lvl5pPr marL="10799910" indent="-1199990" algn="l" defTabSz="4799960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5pPr>
      <a:lvl6pPr marL="13199890" indent="-1199990" algn="l" defTabSz="4799960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6pPr>
      <a:lvl7pPr marL="15599870" indent="-1199990" algn="l" defTabSz="4799960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7pPr>
      <a:lvl8pPr marL="17999850" indent="-1199990" algn="l" defTabSz="4799960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8pPr>
      <a:lvl9pPr marL="20399830" indent="-1199990" algn="l" defTabSz="4799960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99960" rtl="0" eaLnBrk="1" latinLnBrk="0" hangingPunct="1">
        <a:defRPr sz="9449" kern="1200">
          <a:solidFill>
            <a:schemeClr val="tx1"/>
          </a:solidFill>
          <a:latin typeface="+mn-lt"/>
          <a:ea typeface="+mn-ea"/>
          <a:cs typeface="+mn-cs"/>
        </a:defRPr>
      </a:lvl1pPr>
      <a:lvl2pPr marL="2399980" algn="l" defTabSz="4799960" rtl="0" eaLnBrk="1" latinLnBrk="0" hangingPunct="1"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799960" algn="l" defTabSz="4799960" rtl="0" eaLnBrk="1" latinLnBrk="0" hangingPunct="1">
        <a:defRPr sz="9449" kern="1200">
          <a:solidFill>
            <a:schemeClr val="tx1"/>
          </a:solidFill>
          <a:latin typeface="+mn-lt"/>
          <a:ea typeface="+mn-ea"/>
          <a:cs typeface="+mn-cs"/>
        </a:defRPr>
      </a:lvl3pPr>
      <a:lvl4pPr marL="7199940" algn="l" defTabSz="4799960" rtl="0" eaLnBrk="1" latinLnBrk="0" hangingPunct="1">
        <a:defRPr sz="9449" kern="1200">
          <a:solidFill>
            <a:schemeClr val="tx1"/>
          </a:solidFill>
          <a:latin typeface="+mn-lt"/>
          <a:ea typeface="+mn-ea"/>
          <a:cs typeface="+mn-cs"/>
        </a:defRPr>
      </a:lvl4pPr>
      <a:lvl5pPr marL="9599920" algn="l" defTabSz="4799960" rtl="0" eaLnBrk="1" latinLnBrk="0" hangingPunct="1">
        <a:defRPr sz="9449" kern="1200">
          <a:solidFill>
            <a:schemeClr val="tx1"/>
          </a:solidFill>
          <a:latin typeface="+mn-lt"/>
          <a:ea typeface="+mn-ea"/>
          <a:cs typeface="+mn-cs"/>
        </a:defRPr>
      </a:lvl5pPr>
      <a:lvl6pPr marL="11999900" algn="l" defTabSz="4799960" rtl="0" eaLnBrk="1" latinLnBrk="0" hangingPunct="1">
        <a:defRPr sz="9449" kern="1200">
          <a:solidFill>
            <a:schemeClr val="tx1"/>
          </a:solidFill>
          <a:latin typeface="+mn-lt"/>
          <a:ea typeface="+mn-ea"/>
          <a:cs typeface="+mn-cs"/>
        </a:defRPr>
      </a:lvl6pPr>
      <a:lvl7pPr marL="14399880" algn="l" defTabSz="4799960" rtl="0" eaLnBrk="1" latinLnBrk="0" hangingPunct="1">
        <a:defRPr sz="9449" kern="1200">
          <a:solidFill>
            <a:schemeClr val="tx1"/>
          </a:solidFill>
          <a:latin typeface="+mn-lt"/>
          <a:ea typeface="+mn-ea"/>
          <a:cs typeface="+mn-cs"/>
        </a:defRPr>
      </a:lvl7pPr>
      <a:lvl8pPr marL="16799860" algn="l" defTabSz="4799960" rtl="0" eaLnBrk="1" latinLnBrk="0" hangingPunct="1">
        <a:defRPr sz="9449" kern="1200">
          <a:solidFill>
            <a:schemeClr val="tx1"/>
          </a:solidFill>
          <a:latin typeface="+mn-lt"/>
          <a:ea typeface="+mn-ea"/>
          <a:cs typeface="+mn-cs"/>
        </a:defRPr>
      </a:lvl8pPr>
      <a:lvl9pPr marL="19199840" algn="l" defTabSz="4799960" rtl="0" eaLnBrk="1" latinLnBrk="0" hangingPunct="1">
        <a:defRPr sz="94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ángulo: esquinas redondeadas 104">
            <a:extLst>
              <a:ext uri="{FF2B5EF4-FFF2-40B4-BE49-F238E27FC236}">
                <a16:creationId xmlns:a16="http://schemas.microsoft.com/office/drawing/2014/main" id="{BC35BB76-FA7E-2557-4BA7-52871DC0EF48}"/>
              </a:ext>
            </a:extLst>
          </p:cNvPr>
          <p:cNvSpPr/>
          <p:nvPr/>
        </p:nvSpPr>
        <p:spPr>
          <a:xfrm>
            <a:off x="25035648" y="2460643"/>
            <a:ext cx="6114964" cy="40924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4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VALIDACIÓN DE DOCUMENTOS</a:t>
            </a:r>
          </a:p>
        </p:txBody>
      </p:sp>
      <p:sp>
        <p:nvSpPr>
          <p:cNvPr id="106" name="Rectángulo: esquinas redondeadas 105">
            <a:extLst>
              <a:ext uri="{FF2B5EF4-FFF2-40B4-BE49-F238E27FC236}">
                <a16:creationId xmlns:a16="http://schemas.microsoft.com/office/drawing/2014/main" id="{D03A11DC-3019-BEDA-3E1B-6E20EAC88BF5}"/>
              </a:ext>
            </a:extLst>
          </p:cNvPr>
          <p:cNvSpPr/>
          <p:nvPr/>
        </p:nvSpPr>
        <p:spPr>
          <a:xfrm>
            <a:off x="11300396" y="5206407"/>
            <a:ext cx="2438346" cy="354294"/>
          </a:xfrm>
          <a:prstGeom prst="roundRect">
            <a:avLst/>
          </a:prstGeom>
          <a:gradFill flip="none" rotWithShape="1">
            <a:gsLst>
              <a:gs pos="0">
                <a:srgbClr val="66FF33">
                  <a:tint val="66000"/>
                  <a:satMod val="160000"/>
                </a:srgbClr>
              </a:gs>
              <a:gs pos="50000">
                <a:srgbClr val="66FF33">
                  <a:tint val="44500"/>
                  <a:satMod val="160000"/>
                </a:srgbClr>
              </a:gs>
              <a:gs pos="100000">
                <a:srgbClr val="66FF33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4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INFORMES DE ANALISIS</a:t>
            </a:r>
          </a:p>
        </p:txBody>
      </p:sp>
      <p:sp>
        <p:nvSpPr>
          <p:cNvPr id="107" name="Rectángulo: esquinas redondeadas 106">
            <a:extLst>
              <a:ext uri="{FF2B5EF4-FFF2-40B4-BE49-F238E27FC236}">
                <a16:creationId xmlns:a16="http://schemas.microsoft.com/office/drawing/2014/main" id="{FE41DA0B-8A0E-6B74-F482-7F0DC4021015}"/>
              </a:ext>
            </a:extLst>
          </p:cNvPr>
          <p:cNvSpPr/>
          <p:nvPr/>
        </p:nvSpPr>
        <p:spPr>
          <a:xfrm>
            <a:off x="26474108" y="5270997"/>
            <a:ext cx="3334946" cy="488853"/>
          </a:xfrm>
          <a:prstGeom prst="roundRect">
            <a:avLst/>
          </a:prstGeom>
          <a:gradFill flip="none" rotWithShape="1">
            <a:gsLst>
              <a:gs pos="0">
                <a:srgbClr val="66FF33">
                  <a:tint val="66000"/>
                  <a:satMod val="160000"/>
                </a:srgbClr>
              </a:gs>
              <a:gs pos="50000">
                <a:srgbClr val="66FF33">
                  <a:tint val="44500"/>
                  <a:satMod val="160000"/>
                </a:srgbClr>
              </a:gs>
              <a:gs pos="100000">
                <a:srgbClr val="66FF33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4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INSTRUMENTO DE MEDICIÓN O VERIFICACIÓN</a:t>
            </a:r>
          </a:p>
        </p:txBody>
      </p:sp>
      <p:sp>
        <p:nvSpPr>
          <p:cNvPr id="108" name="Rectángulo: esquinas redondeadas 107">
            <a:extLst>
              <a:ext uri="{FF2B5EF4-FFF2-40B4-BE49-F238E27FC236}">
                <a16:creationId xmlns:a16="http://schemas.microsoft.com/office/drawing/2014/main" id="{7C2A981F-AD1B-4D0F-245F-51E1BF04994B}"/>
              </a:ext>
            </a:extLst>
          </p:cNvPr>
          <p:cNvSpPr/>
          <p:nvPr/>
        </p:nvSpPr>
        <p:spPr>
          <a:xfrm>
            <a:off x="36721146" y="5638673"/>
            <a:ext cx="5704109" cy="3216299"/>
          </a:xfrm>
          <a:prstGeom prst="roundRect">
            <a:avLst/>
          </a:prstGeom>
          <a:gradFill flip="none" rotWithShape="1">
            <a:gsLst>
              <a:gs pos="0">
                <a:srgbClr val="66FF33">
                  <a:tint val="66000"/>
                  <a:satMod val="160000"/>
                </a:srgbClr>
              </a:gs>
              <a:gs pos="50000">
                <a:srgbClr val="66FF33">
                  <a:tint val="44500"/>
                  <a:satMod val="160000"/>
                </a:srgbClr>
              </a:gs>
              <a:gs pos="100000">
                <a:srgbClr val="66FF33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44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TRAZABILIDAD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Es uno de los temas trascendentales en el proceso de desarrollo de </a:t>
            </a:r>
            <a:r>
              <a:rPr lang="es-ES" i="1" dirty="0">
                <a:solidFill>
                  <a:schemeClr val="tx1"/>
                </a:solidFill>
              </a:rPr>
              <a:t>software</a:t>
            </a:r>
            <a:r>
              <a:rPr lang="es-ES" dirty="0">
                <a:solidFill>
                  <a:schemeClr val="tx1"/>
                </a:solidFill>
              </a:rPr>
              <a:t>, porque permite hacer un seguimiento riguroso al proyecto, desde la idea básica hasta los entregables. Los modelos de trazabilidad facilitan que </a:t>
            </a:r>
            <a:r>
              <a:rPr lang="es-ES" dirty="0">
                <a:gradFill flip="none" rotWithShape="1">
                  <a:gsLst>
                    <a:gs pos="0">
                      <a:schemeClr val="tx1">
                        <a:tint val="66000"/>
                        <a:satMod val="160000"/>
                      </a:schemeClr>
                    </a:gs>
                    <a:gs pos="50000">
                      <a:schemeClr val="tx1">
                        <a:tint val="44500"/>
                        <a:satMod val="160000"/>
                      </a:schemeClr>
                    </a:gs>
                    <a:gs pos="100000">
                      <a:schemeClr val="tx1">
                        <a:tint val="23500"/>
                        <a:satMod val="160000"/>
                      </a:schemeClr>
                    </a:gs>
                  </a:gsLst>
                  <a:lin ang="0" scaled="1"/>
                  <a:tileRect/>
                </a:gradFill>
              </a:rPr>
              <a:t>los</a:t>
            </a:r>
            <a:r>
              <a:rPr lang="es-ES" dirty="0">
                <a:solidFill>
                  <a:schemeClr val="tx1"/>
                </a:solidFill>
              </a:rPr>
              <a:t> desarrolladores realicen una correcta evaluación del costo e impacto de las posibles modificaciones en los modelos y código del </a:t>
            </a:r>
            <a:r>
              <a:rPr lang="es-ES" i="1" dirty="0">
                <a:solidFill>
                  <a:schemeClr val="tx1"/>
                </a:solidFill>
              </a:rPr>
              <a:t>software</a:t>
            </a:r>
            <a:r>
              <a:rPr lang="es-ES" dirty="0">
                <a:solidFill>
                  <a:schemeClr val="tx1"/>
                </a:solidFill>
              </a:rPr>
              <a:t>, ayudando a enlazar o relacionar los requisitos con otros elementos del ciclo de vida, principalmente, casos de prueba y código.</a:t>
            </a:r>
            <a:endParaRPr lang="es-CO" sz="144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Rectángulo: esquinas redondeadas 108">
            <a:extLst>
              <a:ext uri="{FF2B5EF4-FFF2-40B4-BE49-F238E27FC236}">
                <a16:creationId xmlns:a16="http://schemas.microsoft.com/office/drawing/2014/main" id="{BB838AE8-6BD9-774B-684B-4A537376F620}"/>
              </a:ext>
            </a:extLst>
          </p:cNvPr>
          <p:cNvSpPr/>
          <p:nvPr/>
        </p:nvSpPr>
        <p:spPr>
          <a:xfrm>
            <a:off x="26425657" y="3229265"/>
            <a:ext cx="3334946" cy="3542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60" dirty="0">
                <a:solidFill>
                  <a:schemeClr val="tx1"/>
                </a:solidFill>
              </a:rPr>
              <a:t>Son aquellos instrumentos que permiten verificar el estado de un proceso específico de manera detallada.</a:t>
            </a:r>
            <a:endParaRPr lang="es-CO" sz="96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Rectángulo: esquinas redondeadas 110">
            <a:extLst>
              <a:ext uri="{FF2B5EF4-FFF2-40B4-BE49-F238E27FC236}">
                <a16:creationId xmlns:a16="http://schemas.microsoft.com/office/drawing/2014/main" id="{7CF11D01-5C2A-D903-CEC9-B54401A32333}"/>
              </a:ext>
            </a:extLst>
          </p:cNvPr>
          <p:cNvSpPr/>
          <p:nvPr/>
        </p:nvSpPr>
        <p:spPr>
          <a:xfrm>
            <a:off x="11035007" y="5871253"/>
            <a:ext cx="2969127" cy="1152523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80" dirty="0">
                <a:solidFill>
                  <a:schemeClr val="tx1"/>
                </a:solidFill>
              </a:rPr>
              <a:t>son documentos en los cuales se plasma una serie de procesos, de acuerdo con los requerimientos y objetivos a alcanzar, también conocidos como </a:t>
            </a:r>
            <a:r>
              <a:rPr lang="es-ES" sz="880" i="1" dirty="0">
                <a:solidFill>
                  <a:schemeClr val="tx1"/>
                </a:solidFill>
              </a:rPr>
              <a:t>reporting</a:t>
            </a:r>
            <a:r>
              <a:rPr lang="es-ES" sz="880" dirty="0">
                <a:solidFill>
                  <a:schemeClr val="tx1"/>
                </a:solidFill>
              </a:rPr>
              <a:t> y su fin es realizar un análisis exhaustivo del sistema que se desea desarrollar y el rendimiento de los procesos, logrando influir directamente en la toma de decisiones.</a:t>
            </a:r>
            <a:endParaRPr lang="es-CO" sz="88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F541D9D8-3F2A-B023-3262-D946DA9256C7}"/>
              </a:ext>
            </a:extLst>
          </p:cNvPr>
          <p:cNvSpPr txBox="1"/>
          <p:nvPr/>
        </p:nvSpPr>
        <p:spPr>
          <a:xfrm>
            <a:off x="11684246" y="7461582"/>
            <a:ext cx="1405257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" dirty="0"/>
              <a:t>Aspectos a tener en cuenta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68488104-D3D4-9670-8267-648B1372B9D2}"/>
              </a:ext>
            </a:extLst>
          </p:cNvPr>
          <p:cNvSpPr txBox="1"/>
          <p:nvPr/>
        </p:nvSpPr>
        <p:spPr>
          <a:xfrm>
            <a:off x="5926064" y="10026995"/>
            <a:ext cx="1725664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" dirty="0"/>
              <a:t>Esta información debe ser</a:t>
            </a:r>
          </a:p>
        </p:txBody>
      </p:sp>
      <p:sp>
        <p:nvSpPr>
          <p:cNvPr id="116" name="Rectángulo: esquinas redondeadas 115">
            <a:extLst>
              <a:ext uri="{FF2B5EF4-FFF2-40B4-BE49-F238E27FC236}">
                <a16:creationId xmlns:a16="http://schemas.microsoft.com/office/drawing/2014/main" id="{C487E2B9-D608-909C-D7AF-5EA6BA1251BD}"/>
              </a:ext>
            </a:extLst>
          </p:cNvPr>
          <p:cNvSpPr/>
          <p:nvPr/>
        </p:nvSpPr>
        <p:spPr>
          <a:xfrm>
            <a:off x="5784059" y="10827059"/>
            <a:ext cx="897618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objetiva</a:t>
            </a:r>
          </a:p>
        </p:txBody>
      </p:sp>
      <p:sp>
        <p:nvSpPr>
          <p:cNvPr id="119" name="Rectángulo: esquinas redondeadas 118">
            <a:extLst>
              <a:ext uri="{FF2B5EF4-FFF2-40B4-BE49-F238E27FC236}">
                <a16:creationId xmlns:a16="http://schemas.microsoft.com/office/drawing/2014/main" id="{E82190F3-9DA9-5A5C-B2A0-E4056910DA66}"/>
              </a:ext>
            </a:extLst>
          </p:cNvPr>
          <p:cNvSpPr/>
          <p:nvPr/>
        </p:nvSpPr>
        <p:spPr>
          <a:xfrm>
            <a:off x="6882107" y="10827060"/>
            <a:ext cx="897618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Precisa</a:t>
            </a:r>
          </a:p>
        </p:txBody>
      </p:sp>
      <p:sp>
        <p:nvSpPr>
          <p:cNvPr id="120" name="Rectángulo: esquinas redondeadas 119">
            <a:extLst>
              <a:ext uri="{FF2B5EF4-FFF2-40B4-BE49-F238E27FC236}">
                <a16:creationId xmlns:a16="http://schemas.microsoft.com/office/drawing/2014/main" id="{21E1A8AC-6EF1-4B28-FF51-ABCE44387505}"/>
              </a:ext>
            </a:extLst>
          </p:cNvPr>
          <p:cNvSpPr/>
          <p:nvPr/>
        </p:nvSpPr>
        <p:spPr>
          <a:xfrm>
            <a:off x="7980154" y="10852495"/>
            <a:ext cx="897618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Actualizada</a:t>
            </a:r>
          </a:p>
        </p:txBody>
      </p:sp>
      <p:sp>
        <p:nvSpPr>
          <p:cNvPr id="121" name="Rectángulo: esquinas redondeadas 120">
            <a:extLst>
              <a:ext uri="{FF2B5EF4-FFF2-40B4-BE49-F238E27FC236}">
                <a16:creationId xmlns:a16="http://schemas.microsoft.com/office/drawing/2014/main" id="{37F714F8-846D-A399-F2FF-DED2A605E7D9}"/>
              </a:ext>
            </a:extLst>
          </p:cNvPr>
          <p:cNvSpPr/>
          <p:nvPr/>
        </p:nvSpPr>
        <p:spPr>
          <a:xfrm>
            <a:off x="4686011" y="10852495"/>
            <a:ext cx="897618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Confiable</a:t>
            </a:r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5B3C3BA6-852D-09A1-4851-730103751E83}"/>
              </a:ext>
            </a:extLst>
          </p:cNvPr>
          <p:cNvSpPr txBox="1"/>
          <p:nvPr/>
        </p:nvSpPr>
        <p:spPr>
          <a:xfrm>
            <a:off x="5728152" y="11364192"/>
            <a:ext cx="2121491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" dirty="0"/>
              <a:t>Evaluar las fuentes de información las cuales son:</a:t>
            </a:r>
          </a:p>
        </p:txBody>
      </p:sp>
      <p:sp>
        <p:nvSpPr>
          <p:cNvPr id="124" name="Rectángulo: esquinas redondeadas 123">
            <a:extLst>
              <a:ext uri="{FF2B5EF4-FFF2-40B4-BE49-F238E27FC236}">
                <a16:creationId xmlns:a16="http://schemas.microsoft.com/office/drawing/2014/main" id="{E9D031F3-2D03-A622-7E80-EA67BD9DB9C9}"/>
              </a:ext>
            </a:extLst>
          </p:cNvPr>
          <p:cNvSpPr/>
          <p:nvPr/>
        </p:nvSpPr>
        <p:spPr>
          <a:xfrm>
            <a:off x="3091050" y="12094321"/>
            <a:ext cx="2121491" cy="64053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Primarias:                                 </a:t>
            </a:r>
          </a:p>
          <a:p>
            <a:pPr algn="ctr"/>
            <a:r>
              <a:rPr lang="es-CO" sz="88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s-ES" sz="880" dirty="0">
                <a:solidFill>
                  <a:schemeClr val="tx1"/>
                </a:solidFill>
              </a:rPr>
              <a:t>son aquellas en las que los datos provienen directamente del objeto de estudio.</a:t>
            </a:r>
            <a:endParaRPr lang="es-CO" sz="88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Rectángulo: esquinas redondeadas 125">
            <a:extLst>
              <a:ext uri="{FF2B5EF4-FFF2-40B4-BE49-F238E27FC236}">
                <a16:creationId xmlns:a16="http://schemas.microsoft.com/office/drawing/2014/main" id="{EEA32DD2-93C8-FE43-2256-A3E4BFDD0691}"/>
              </a:ext>
            </a:extLst>
          </p:cNvPr>
          <p:cNvSpPr/>
          <p:nvPr/>
        </p:nvSpPr>
        <p:spPr>
          <a:xfrm>
            <a:off x="7491527" y="11929675"/>
            <a:ext cx="2121491" cy="8449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Secundarias</a:t>
            </a:r>
          </a:p>
          <a:p>
            <a:pPr algn="ctr"/>
            <a:r>
              <a:rPr lang="es-ES" sz="880" dirty="0">
                <a:solidFill>
                  <a:schemeClr val="tx1"/>
                </a:solidFill>
              </a:rPr>
              <a:t>Las fuentes secundarias son aquellas que parten de datos preelaborados, como pueden ser datos obtenidos de otros proyectos, de Internet y de medios de comunicación</a:t>
            </a:r>
            <a:endParaRPr lang="es-CO" sz="88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Rectángulo: esquinas redondeadas 126">
            <a:extLst>
              <a:ext uri="{FF2B5EF4-FFF2-40B4-BE49-F238E27FC236}">
                <a16:creationId xmlns:a16="http://schemas.microsoft.com/office/drawing/2014/main" id="{0620CF3A-FC83-B394-C09D-CBBC044A72BB}"/>
              </a:ext>
            </a:extLst>
          </p:cNvPr>
          <p:cNvSpPr/>
          <p:nvPr/>
        </p:nvSpPr>
        <p:spPr>
          <a:xfrm>
            <a:off x="1719354" y="13560442"/>
            <a:ext cx="2342545" cy="132452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Directa: </a:t>
            </a:r>
            <a:r>
              <a:rPr lang="es-ES" sz="1000" dirty="0">
                <a:solidFill>
                  <a:schemeClr val="tx1"/>
                </a:solidFill>
              </a:rPr>
              <a:t>Cuando el investigador toma directamente los datos de la población, sin necesidad de cuestionarios o entrevistadores. Por ejemplo, cuando un profesor realiza un estudio sobre el avance de sus estudiantes en una materia.</a:t>
            </a:r>
            <a:endParaRPr lang="es-CO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1B6E6E61-A49C-5557-65F9-1C3238784881}"/>
              </a:ext>
            </a:extLst>
          </p:cNvPr>
          <p:cNvSpPr txBox="1"/>
          <p:nvPr/>
        </p:nvSpPr>
        <p:spPr>
          <a:xfrm>
            <a:off x="3449166" y="12986078"/>
            <a:ext cx="1405257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" dirty="0"/>
              <a:t>Se dividen en: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56662383-57D3-3512-414F-245117B6668D}"/>
              </a:ext>
            </a:extLst>
          </p:cNvPr>
          <p:cNvSpPr txBox="1"/>
          <p:nvPr/>
        </p:nvSpPr>
        <p:spPr>
          <a:xfrm>
            <a:off x="7590194" y="13030945"/>
            <a:ext cx="17757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/>
              <a:t>Deben ser detalladas con cuatro preguntas básicas:</a:t>
            </a:r>
            <a:endParaRPr lang="es-CO" sz="1100" dirty="0"/>
          </a:p>
        </p:txBody>
      </p:sp>
      <p:sp>
        <p:nvSpPr>
          <p:cNvPr id="134" name="Rectángulo: esquinas redondeadas 133">
            <a:extLst>
              <a:ext uri="{FF2B5EF4-FFF2-40B4-BE49-F238E27FC236}">
                <a16:creationId xmlns:a16="http://schemas.microsoft.com/office/drawing/2014/main" id="{5FD2E16D-76FA-2FBA-4403-4CB5C6850FE5}"/>
              </a:ext>
            </a:extLst>
          </p:cNvPr>
          <p:cNvSpPr/>
          <p:nvPr/>
        </p:nvSpPr>
        <p:spPr>
          <a:xfrm>
            <a:off x="7637641" y="13773057"/>
            <a:ext cx="1665570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¿</a:t>
            </a:r>
            <a:r>
              <a:rPr lang="es-CO" sz="1100" b="1" dirty="0">
                <a:solidFill>
                  <a:schemeClr val="tx1"/>
                </a:solidFill>
              </a:rPr>
              <a:t>Es pertinente?</a:t>
            </a:r>
            <a:endParaRPr lang="es-CO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Rectángulo: esquinas redondeadas 136">
            <a:extLst>
              <a:ext uri="{FF2B5EF4-FFF2-40B4-BE49-F238E27FC236}">
                <a16:creationId xmlns:a16="http://schemas.microsoft.com/office/drawing/2014/main" id="{F4E7055D-07E8-E3E3-73DB-37D73FA1DEDF}"/>
              </a:ext>
            </a:extLst>
          </p:cNvPr>
          <p:cNvSpPr/>
          <p:nvPr/>
        </p:nvSpPr>
        <p:spPr>
          <a:xfrm>
            <a:off x="7621481" y="14912131"/>
            <a:ext cx="1665570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b="1" dirty="0">
                <a:solidFill>
                  <a:schemeClr val="tx1"/>
                </a:solidFill>
              </a:rPr>
              <a:t>¿Es fidedigna?</a:t>
            </a:r>
            <a:endParaRPr lang="es-CO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Rectángulo: esquinas redondeadas 137">
            <a:extLst>
              <a:ext uri="{FF2B5EF4-FFF2-40B4-BE49-F238E27FC236}">
                <a16:creationId xmlns:a16="http://schemas.microsoft.com/office/drawing/2014/main" id="{21E36D7D-F842-1EAB-6407-ED65F6409D24}"/>
              </a:ext>
            </a:extLst>
          </p:cNvPr>
          <p:cNvSpPr/>
          <p:nvPr/>
        </p:nvSpPr>
        <p:spPr>
          <a:xfrm>
            <a:off x="7225595" y="15481676"/>
            <a:ext cx="2489663" cy="26558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b="1" dirty="0">
                <a:solidFill>
                  <a:schemeClr val="tx1"/>
                </a:solidFill>
              </a:rPr>
              <a:t>¿Es digna de confianza?</a:t>
            </a:r>
            <a:endParaRPr lang="es-CO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Rectángulo: esquinas redondeadas 138">
            <a:extLst>
              <a:ext uri="{FF2B5EF4-FFF2-40B4-BE49-F238E27FC236}">
                <a16:creationId xmlns:a16="http://schemas.microsoft.com/office/drawing/2014/main" id="{59711CD6-5004-623E-E817-29F515980D29}"/>
              </a:ext>
            </a:extLst>
          </p:cNvPr>
          <p:cNvSpPr/>
          <p:nvPr/>
        </p:nvSpPr>
        <p:spPr>
          <a:xfrm>
            <a:off x="7637640" y="14362973"/>
            <a:ext cx="1665570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obsoleta</a:t>
            </a:r>
          </a:p>
        </p:txBody>
      </p:sp>
      <p:sp>
        <p:nvSpPr>
          <p:cNvPr id="140" name="Rectángulo: esquinas redondeadas 139">
            <a:extLst>
              <a:ext uri="{FF2B5EF4-FFF2-40B4-BE49-F238E27FC236}">
                <a16:creationId xmlns:a16="http://schemas.microsoft.com/office/drawing/2014/main" id="{29654906-42FE-90DD-8661-3D262BDE1780}"/>
              </a:ext>
            </a:extLst>
          </p:cNvPr>
          <p:cNvSpPr/>
          <p:nvPr/>
        </p:nvSpPr>
        <p:spPr>
          <a:xfrm>
            <a:off x="4399384" y="13603257"/>
            <a:ext cx="2342545" cy="132452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s-ES" sz="1000" b="1" dirty="0">
                <a:solidFill>
                  <a:schemeClr val="tx1"/>
                </a:solidFill>
              </a:rPr>
              <a:t>De la naturaleza, artificiales y mixtos:</a:t>
            </a:r>
          </a:p>
          <a:p>
            <a:pPr fontAlgn="base"/>
            <a:r>
              <a:rPr lang="es-ES" sz="1000" dirty="0">
                <a:solidFill>
                  <a:schemeClr val="tx1"/>
                </a:solidFill>
              </a:rPr>
              <a:t>Cuando los datos no son obtenidos directamente, sino por medio de un cuestionario, lista de chequeo u otra fuente.</a:t>
            </a:r>
          </a:p>
          <a:p>
            <a:pPr algn="ctr"/>
            <a:r>
              <a:rPr lang="es-ES" sz="1000" dirty="0">
                <a:solidFill>
                  <a:schemeClr val="tx1"/>
                </a:solidFill>
              </a:rPr>
              <a:t>.</a:t>
            </a:r>
            <a:endParaRPr lang="es-CO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CE6EF3CD-871C-0115-0CD8-9282FB7BE55C}"/>
              </a:ext>
            </a:extLst>
          </p:cNvPr>
          <p:cNvSpPr txBox="1"/>
          <p:nvPr/>
        </p:nvSpPr>
        <p:spPr>
          <a:xfrm>
            <a:off x="8439926" y="8854972"/>
            <a:ext cx="140525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" dirty="0"/>
              <a:t>Teniendo en cuenta esto el informe se estructura</a:t>
            </a:r>
          </a:p>
        </p:txBody>
      </p:sp>
      <p:sp>
        <p:nvSpPr>
          <p:cNvPr id="144" name="Rectángulo: esquinas redondeadas 143">
            <a:extLst>
              <a:ext uri="{FF2B5EF4-FFF2-40B4-BE49-F238E27FC236}">
                <a16:creationId xmlns:a16="http://schemas.microsoft.com/office/drawing/2014/main" id="{44580F06-FD65-3CC1-5A5B-D39F57D1AB48}"/>
              </a:ext>
            </a:extLst>
          </p:cNvPr>
          <p:cNvSpPr/>
          <p:nvPr/>
        </p:nvSpPr>
        <p:spPr>
          <a:xfrm>
            <a:off x="10183986" y="9034233"/>
            <a:ext cx="897618" cy="221594"/>
          </a:xfrm>
          <a:prstGeom prst="round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Resumen</a:t>
            </a:r>
          </a:p>
        </p:txBody>
      </p:sp>
      <p:sp>
        <p:nvSpPr>
          <p:cNvPr id="145" name="Rectángulo: esquinas redondeadas 144">
            <a:extLst>
              <a:ext uri="{FF2B5EF4-FFF2-40B4-BE49-F238E27FC236}">
                <a16:creationId xmlns:a16="http://schemas.microsoft.com/office/drawing/2014/main" id="{D0751D3E-2B95-F270-BC44-09512797B8C1}"/>
              </a:ext>
            </a:extLst>
          </p:cNvPr>
          <p:cNvSpPr/>
          <p:nvPr/>
        </p:nvSpPr>
        <p:spPr>
          <a:xfrm>
            <a:off x="10178387" y="10392854"/>
            <a:ext cx="897618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</a:p>
        </p:txBody>
      </p:sp>
      <p:sp>
        <p:nvSpPr>
          <p:cNvPr id="146" name="Rectángulo: esquinas redondeadas 145">
            <a:extLst>
              <a:ext uri="{FF2B5EF4-FFF2-40B4-BE49-F238E27FC236}">
                <a16:creationId xmlns:a16="http://schemas.microsoft.com/office/drawing/2014/main" id="{31602B3C-470A-DC67-7104-150065FB8C07}"/>
              </a:ext>
            </a:extLst>
          </p:cNvPr>
          <p:cNvSpPr/>
          <p:nvPr/>
        </p:nvSpPr>
        <p:spPr>
          <a:xfrm>
            <a:off x="10178387" y="11734042"/>
            <a:ext cx="897618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Contenido</a:t>
            </a:r>
          </a:p>
        </p:txBody>
      </p:sp>
      <p:sp>
        <p:nvSpPr>
          <p:cNvPr id="147" name="Rectángulo: esquinas redondeadas 146">
            <a:extLst>
              <a:ext uri="{FF2B5EF4-FFF2-40B4-BE49-F238E27FC236}">
                <a16:creationId xmlns:a16="http://schemas.microsoft.com/office/drawing/2014/main" id="{955883A8-9DC9-F948-D0CC-95B7790F4286}"/>
              </a:ext>
            </a:extLst>
          </p:cNvPr>
          <p:cNvSpPr/>
          <p:nvPr/>
        </p:nvSpPr>
        <p:spPr>
          <a:xfrm>
            <a:off x="10178387" y="12319334"/>
            <a:ext cx="897618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Contenido</a:t>
            </a:r>
          </a:p>
        </p:txBody>
      </p:sp>
      <p:sp>
        <p:nvSpPr>
          <p:cNvPr id="148" name="Rectángulo: esquinas redondeadas 147">
            <a:extLst>
              <a:ext uri="{FF2B5EF4-FFF2-40B4-BE49-F238E27FC236}">
                <a16:creationId xmlns:a16="http://schemas.microsoft.com/office/drawing/2014/main" id="{B36A98B9-873C-32B7-C539-AD78628340CF}"/>
              </a:ext>
            </a:extLst>
          </p:cNvPr>
          <p:cNvSpPr/>
          <p:nvPr/>
        </p:nvSpPr>
        <p:spPr>
          <a:xfrm>
            <a:off x="13322342" y="9004245"/>
            <a:ext cx="1289188" cy="240066"/>
          </a:xfrm>
          <a:prstGeom prst="round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Redacción técnica</a:t>
            </a:r>
          </a:p>
        </p:txBody>
      </p:sp>
      <p:sp>
        <p:nvSpPr>
          <p:cNvPr id="149" name="Rectángulo: esquinas redondeadas 148">
            <a:extLst>
              <a:ext uri="{FF2B5EF4-FFF2-40B4-BE49-F238E27FC236}">
                <a16:creationId xmlns:a16="http://schemas.microsoft.com/office/drawing/2014/main" id="{A0CF602C-AF32-AE3A-0E76-D7F474990352}"/>
              </a:ext>
            </a:extLst>
          </p:cNvPr>
          <p:cNvSpPr/>
          <p:nvPr/>
        </p:nvSpPr>
        <p:spPr>
          <a:xfrm>
            <a:off x="16700172" y="8610449"/>
            <a:ext cx="2218117" cy="1027658"/>
          </a:xfrm>
          <a:prstGeom prst="round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Metodología de análisis</a:t>
            </a:r>
            <a:r>
              <a:rPr lang="es-CO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ES" sz="1000" dirty="0">
                <a:solidFill>
                  <a:schemeClr val="tx1"/>
                </a:solidFill>
              </a:rPr>
              <a:t>es la descripción del proceso seguido para la elaboración del trabajo, es decir, se explica el diseño de la investigación, como:</a:t>
            </a:r>
            <a:endParaRPr lang="es-CO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Rectángulo: esquinas redondeadas 149">
            <a:extLst>
              <a:ext uri="{FF2B5EF4-FFF2-40B4-BE49-F238E27FC236}">
                <a16:creationId xmlns:a16="http://schemas.microsoft.com/office/drawing/2014/main" id="{36DDE1A9-681E-9A10-041A-A3C2A81E538F}"/>
              </a:ext>
            </a:extLst>
          </p:cNvPr>
          <p:cNvSpPr/>
          <p:nvPr/>
        </p:nvSpPr>
        <p:spPr>
          <a:xfrm>
            <a:off x="5670073" y="8479629"/>
            <a:ext cx="2363461" cy="1306370"/>
          </a:xfrm>
          <a:prstGeom prst="round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50" b="1" dirty="0">
                <a:solidFill>
                  <a:schemeClr val="tx1"/>
                </a:solidFill>
              </a:rPr>
              <a:t> Proceso de búsqueda de la información, evaluación y síntesis de las fuentes</a:t>
            </a:r>
          </a:p>
          <a:p>
            <a:pPr algn="ctr" fontAlgn="base"/>
            <a:r>
              <a:rPr lang="es-ES" sz="900" dirty="0">
                <a:solidFill>
                  <a:schemeClr val="tx1"/>
                </a:solidFill>
              </a:rPr>
              <a:t>Al momento de realizar un informe, el principal elemento de trabajo es la información que tenemos o hemos recolectado para tal fin.</a:t>
            </a:r>
            <a:endParaRPr lang="es-ES" sz="900" b="1" dirty="0">
              <a:solidFill>
                <a:schemeClr val="tx1"/>
              </a:solidFill>
            </a:endParaRPr>
          </a:p>
        </p:txBody>
      </p:sp>
      <p:sp>
        <p:nvSpPr>
          <p:cNvPr id="151" name="Rectángulo: esquinas redondeadas 150">
            <a:extLst>
              <a:ext uri="{FF2B5EF4-FFF2-40B4-BE49-F238E27FC236}">
                <a16:creationId xmlns:a16="http://schemas.microsoft.com/office/drawing/2014/main" id="{29B7AFA6-55E3-2F1E-41E8-10FDD73F7DC1}"/>
              </a:ext>
            </a:extLst>
          </p:cNvPr>
          <p:cNvSpPr/>
          <p:nvPr/>
        </p:nvSpPr>
        <p:spPr>
          <a:xfrm>
            <a:off x="11371612" y="9530698"/>
            <a:ext cx="897618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Contexto</a:t>
            </a:r>
          </a:p>
        </p:txBody>
      </p:sp>
      <p:sp>
        <p:nvSpPr>
          <p:cNvPr id="152" name="Rectángulo: esquinas redondeadas 151">
            <a:extLst>
              <a:ext uri="{FF2B5EF4-FFF2-40B4-BE49-F238E27FC236}">
                <a16:creationId xmlns:a16="http://schemas.microsoft.com/office/drawing/2014/main" id="{606C48F4-8D38-4CAF-82DC-7F05FD01F563}"/>
              </a:ext>
            </a:extLst>
          </p:cNvPr>
          <p:cNvSpPr/>
          <p:nvPr/>
        </p:nvSpPr>
        <p:spPr>
          <a:xfrm>
            <a:off x="11371612" y="9926893"/>
            <a:ext cx="897618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Motivación</a:t>
            </a:r>
          </a:p>
        </p:txBody>
      </p:sp>
      <p:sp>
        <p:nvSpPr>
          <p:cNvPr id="153" name="Rectángulo: esquinas redondeadas 152">
            <a:extLst>
              <a:ext uri="{FF2B5EF4-FFF2-40B4-BE49-F238E27FC236}">
                <a16:creationId xmlns:a16="http://schemas.microsoft.com/office/drawing/2014/main" id="{6F9910E6-0565-8748-400D-B282DC407A54}"/>
              </a:ext>
            </a:extLst>
          </p:cNvPr>
          <p:cNvSpPr/>
          <p:nvPr/>
        </p:nvSpPr>
        <p:spPr>
          <a:xfrm>
            <a:off x="11371612" y="10323088"/>
            <a:ext cx="897618" cy="299947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Tema del documento</a:t>
            </a:r>
          </a:p>
        </p:txBody>
      </p:sp>
      <p:sp>
        <p:nvSpPr>
          <p:cNvPr id="154" name="Rectángulo: esquinas redondeadas 153">
            <a:extLst>
              <a:ext uri="{FF2B5EF4-FFF2-40B4-BE49-F238E27FC236}">
                <a16:creationId xmlns:a16="http://schemas.microsoft.com/office/drawing/2014/main" id="{688CE82A-A9A6-E442-3942-5710CBB7CEB5}"/>
              </a:ext>
            </a:extLst>
          </p:cNvPr>
          <p:cNvSpPr/>
          <p:nvPr/>
        </p:nvSpPr>
        <p:spPr>
          <a:xfrm>
            <a:off x="11371612" y="10797634"/>
            <a:ext cx="897618" cy="221595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</a:p>
        </p:txBody>
      </p:sp>
      <p:sp>
        <p:nvSpPr>
          <p:cNvPr id="155" name="Rectángulo: esquinas redondeadas 154">
            <a:extLst>
              <a:ext uri="{FF2B5EF4-FFF2-40B4-BE49-F238E27FC236}">
                <a16:creationId xmlns:a16="http://schemas.microsoft.com/office/drawing/2014/main" id="{993A23A4-6919-186F-C844-FF2F5257B0D5}"/>
              </a:ext>
            </a:extLst>
          </p:cNvPr>
          <p:cNvSpPr/>
          <p:nvPr/>
        </p:nvSpPr>
        <p:spPr>
          <a:xfrm>
            <a:off x="11371612" y="11164739"/>
            <a:ext cx="897618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E27D7DDA-9C27-1E05-E536-175389022DD4}"/>
              </a:ext>
            </a:extLst>
          </p:cNvPr>
          <p:cNvSpPr txBox="1"/>
          <p:nvPr/>
        </p:nvSpPr>
        <p:spPr>
          <a:xfrm>
            <a:off x="13264309" y="9466635"/>
            <a:ext cx="1405257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" dirty="0"/>
              <a:t>De debe tener en cuenta:</a:t>
            </a:r>
          </a:p>
        </p:txBody>
      </p:sp>
      <p:sp>
        <p:nvSpPr>
          <p:cNvPr id="157" name="Rectángulo: esquinas redondeadas 156">
            <a:extLst>
              <a:ext uri="{FF2B5EF4-FFF2-40B4-BE49-F238E27FC236}">
                <a16:creationId xmlns:a16="http://schemas.microsoft.com/office/drawing/2014/main" id="{3CB2AA47-2365-A9E6-EB8E-48A643168DD4}"/>
              </a:ext>
            </a:extLst>
          </p:cNvPr>
          <p:cNvSpPr/>
          <p:nvPr/>
        </p:nvSpPr>
        <p:spPr>
          <a:xfrm>
            <a:off x="12465240" y="10035965"/>
            <a:ext cx="1289188" cy="24006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Ordenar las ideas</a:t>
            </a:r>
          </a:p>
        </p:txBody>
      </p:sp>
      <p:sp>
        <p:nvSpPr>
          <p:cNvPr id="158" name="Rectángulo: esquinas redondeadas 157">
            <a:extLst>
              <a:ext uri="{FF2B5EF4-FFF2-40B4-BE49-F238E27FC236}">
                <a16:creationId xmlns:a16="http://schemas.microsoft.com/office/drawing/2014/main" id="{05802D47-02E4-4F99-5457-7308503BBF24}"/>
              </a:ext>
            </a:extLst>
          </p:cNvPr>
          <p:cNvSpPr/>
          <p:nvPr/>
        </p:nvSpPr>
        <p:spPr>
          <a:xfrm>
            <a:off x="12465240" y="10609274"/>
            <a:ext cx="1289188" cy="24006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Usar frases cortas</a:t>
            </a:r>
          </a:p>
        </p:txBody>
      </p:sp>
      <p:sp>
        <p:nvSpPr>
          <p:cNvPr id="159" name="Rectángulo: esquinas redondeadas 158">
            <a:extLst>
              <a:ext uri="{FF2B5EF4-FFF2-40B4-BE49-F238E27FC236}">
                <a16:creationId xmlns:a16="http://schemas.microsoft.com/office/drawing/2014/main" id="{B10C4CFE-931A-D1FC-DE76-63EC2CED1009}"/>
              </a:ext>
            </a:extLst>
          </p:cNvPr>
          <p:cNvSpPr/>
          <p:nvPr/>
        </p:nvSpPr>
        <p:spPr>
          <a:xfrm>
            <a:off x="12465240" y="11147751"/>
            <a:ext cx="1289188" cy="24006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Adjetivos</a:t>
            </a:r>
          </a:p>
        </p:txBody>
      </p:sp>
      <p:sp>
        <p:nvSpPr>
          <p:cNvPr id="160" name="Rectángulo: esquinas redondeadas 159">
            <a:extLst>
              <a:ext uri="{FF2B5EF4-FFF2-40B4-BE49-F238E27FC236}">
                <a16:creationId xmlns:a16="http://schemas.microsoft.com/office/drawing/2014/main" id="{7693EEE8-8937-5682-D909-6021CB46C08E}"/>
              </a:ext>
            </a:extLst>
          </p:cNvPr>
          <p:cNvSpPr/>
          <p:nvPr/>
        </p:nvSpPr>
        <p:spPr>
          <a:xfrm>
            <a:off x="14227761" y="10035965"/>
            <a:ext cx="1289188" cy="24006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Revisar el texto</a:t>
            </a:r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A276E1D6-06B2-D6FB-C816-C9E97251B7C3}"/>
              </a:ext>
            </a:extLst>
          </p:cNvPr>
          <p:cNvSpPr txBox="1"/>
          <p:nvPr/>
        </p:nvSpPr>
        <p:spPr>
          <a:xfrm>
            <a:off x="14169727" y="10550678"/>
            <a:ext cx="14052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/>
              <a:t>Se recomienda estar actualizado en cuanto al lenguaje técnico:</a:t>
            </a:r>
            <a:endParaRPr lang="es-CO" sz="1000" dirty="0"/>
          </a:p>
        </p:txBody>
      </p:sp>
      <p:sp>
        <p:nvSpPr>
          <p:cNvPr id="162" name="Rectángulo: esquinas redondeadas 161">
            <a:extLst>
              <a:ext uri="{FF2B5EF4-FFF2-40B4-BE49-F238E27FC236}">
                <a16:creationId xmlns:a16="http://schemas.microsoft.com/office/drawing/2014/main" id="{E7A4C362-FA81-DF57-C105-DE693B1549BB}"/>
              </a:ext>
            </a:extLst>
          </p:cNvPr>
          <p:cNvSpPr/>
          <p:nvPr/>
        </p:nvSpPr>
        <p:spPr>
          <a:xfrm>
            <a:off x="14169727" y="11416134"/>
            <a:ext cx="1563439" cy="24006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escribir como se habla</a:t>
            </a:r>
          </a:p>
        </p:txBody>
      </p:sp>
      <p:sp>
        <p:nvSpPr>
          <p:cNvPr id="165" name="Rectángulo: esquinas redondeadas 164">
            <a:extLst>
              <a:ext uri="{FF2B5EF4-FFF2-40B4-BE49-F238E27FC236}">
                <a16:creationId xmlns:a16="http://schemas.microsoft.com/office/drawing/2014/main" id="{EF256A9D-90F1-ACFA-D003-557D91C08C15}"/>
              </a:ext>
            </a:extLst>
          </p:cNvPr>
          <p:cNvSpPr/>
          <p:nvPr/>
        </p:nvSpPr>
        <p:spPr>
          <a:xfrm>
            <a:off x="14167348" y="12006989"/>
            <a:ext cx="1563439" cy="24006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Usar puntos y comas</a:t>
            </a:r>
          </a:p>
        </p:txBody>
      </p:sp>
      <p:sp>
        <p:nvSpPr>
          <p:cNvPr id="166" name="Rectángulo: esquinas redondeadas 165">
            <a:extLst>
              <a:ext uri="{FF2B5EF4-FFF2-40B4-BE49-F238E27FC236}">
                <a16:creationId xmlns:a16="http://schemas.microsoft.com/office/drawing/2014/main" id="{4EAD78B2-EC89-5B77-1E0D-4D4D12EAFBEF}"/>
              </a:ext>
            </a:extLst>
          </p:cNvPr>
          <p:cNvSpPr/>
          <p:nvPr/>
        </p:nvSpPr>
        <p:spPr>
          <a:xfrm>
            <a:off x="14167348" y="12585144"/>
            <a:ext cx="1563439" cy="24006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Conclusiones y resultados</a:t>
            </a:r>
          </a:p>
        </p:txBody>
      </p:sp>
      <p:sp>
        <p:nvSpPr>
          <p:cNvPr id="167" name="Rectángulo: esquinas redondeadas 166">
            <a:extLst>
              <a:ext uri="{FF2B5EF4-FFF2-40B4-BE49-F238E27FC236}">
                <a16:creationId xmlns:a16="http://schemas.microsoft.com/office/drawing/2014/main" id="{24C74B48-98FD-79DF-4EA3-1AB50905FCB9}"/>
              </a:ext>
            </a:extLst>
          </p:cNvPr>
          <p:cNvSpPr/>
          <p:nvPr/>
        </p:nvSpPr>
        <p:spPr>
          <a:xfrm>
            <a:off x="17360421" y="10032305"/>
            <a:ext cx="897618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Hipótesis</a:t>
            </a:r>
          </a:p>
        </p:txBody>
      </p:sp>
      <p:sp>
        <p:nvSpPr>
          <p:cNvPr id="168" name="Rectángulo: esquinas redondeadas 167">
            <a:extLst>
              <a:ext uri="{FF2B5EF4-FFF2-40B4-BE49-F238E27FC236}">
                <a16:creationId xmlns:a16="http://schemas.microsoft.com/office/drawing/2014/main" id="{B9E0D58B-E60B-C726-10A3-1E2A4767D70B}"/>
              </a:ext>
            </a:extLst>
          </p:cNvPr>
          <p:cNvSpPr/>
          <p:nvPr/>
        </p:nvSpPr>
        <p:spPr>
          <a:xfrm>
            <a:off x="17974023" y="10705936"/>
            <a:ext cx="1563439" cy="38097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</a:rPr>
              <a:t>A partir de la razón (razonando).</a:t>
            </a:r>
            <a:endParaRPr lang="es-CO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Rectángulo: esquinas redondeadas 168">
            <a:extLst>
              <a:ext uri="{FF2B5EF4-FFF2-40B4-BE49-F238E27FC236}">
                <a16:creationId xmlns:a16="http://schemas.microsoft.com/office/drawing/2014/main" id="{B8580FCA-3BCC-512B-56DE-E1388EAD2C01}"/>
              </a:ext>
            </a:extLst>
          </p:cNvPr>
          <p:cNvSpPr/>
          <p:nvPr/>
        </p:nvSpPr>
        <p:spPr>
          <a:xfrm>
            <a:off x="16117014" y="10613281"/>
            <a:ext cx="1563439" cy="55399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</a:rPr>
              <a:t>A partir de la experiencia, usando la inducción.</a:t>
            </a:r>
            <a:endParaRPr lang="es-CO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Rectángulo: esquinas redondeadas 170">
            <a:extLst>
              <a:ext uri="{FF2B5EF4-FFF2-40B4-BE49-F238E27FC236}">
                <a16:creationId xmlns:a16="http://schemas.microsoft.com/office/drawing/2014/main" id="{0F33A0DC-8BB8-18DF-8F9D-10BF3C5B9F87}"/>
              </a:ext>
            </a:extLst>
          </p:cNvPr>
          <p:cNvSpPr/>
          <p:nvPr/>
        </p:nvSpPr>
        <p:spPr>
          <a:xfrm>
            <a:off x="16121526" y="11599234"/>
            <a:ext cx="3355175" cy="5667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>
                <a:solidFill>
                  <a:schemeClr val="tx1"/>
                </a:solidFill>
              </a:rPr>
              <a:t>a)</a:t>
            </a:r>
            <a:r>
              <a:rPr lang="es-ES" sz="1000" dirty="0">
                <a:solidFill>
                  <a:schemeClr val="tx1"/>
                </a:solidFill>
              </a:rPr>
              <a:t> La información respecto a la observación de un fenómeno es tan clara que conduce fácilmente a una hipótesis.</a:t>
            </a:r>
            <a:endParaRPr lang="es-CO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Rectángulo: esquinas redondeadas 171">
            <a:extLst>
              <a:ext uri="{FF2B5EF4-FFF2-40B4-BE49-F238E27FC236}">
                <a16:creationId xmlns:a16="http://schemas.microsoft.com/office/drawing/2014/main" id="{217C0CEE-DAF6-3D83-F95F-C053C86FE914}"/>
              </a:ext>
            </a:extLst>
          </p:cNvPr>
          <p:cNvSpPr/>
          <p:nvPr/>
        </p:nvSpPr>
        <p:spPr>
          <a:xfrm>
            <a:off x="16121526" y="12602935"/>
            <a:ext cx="3355175" cy="8278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>
                <a:solidFill>
                  <a:schemeClr val="tx1"/>
                </a:solidFill>
              </a:rPr>
              <a:t>b)</a:t>
            </a:r>
            <a:r>
              <a:rPr lang="es-ES" sz="1000" dirty="0">
                <a:solidFill>
                  <a:schemeClr val="tx1"/>
                </a:solidFill>
              </a:rPr>
              <a:t> El programador tiene una serie de convicciones o prejuicios filosóficos, producto de una gran experiencia en torno al problema que aborda, lo cual lo conduce fácilmente a una hipótesis..</a:t>
            </a:r>
            <a:endParaRPr lang="es-CO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Rectángulo: esquinas redondeadas 174">
            <a:extLst>
              <a:ext uri="{FF2B5EF4-FFF2-40B4-BE49-F238E27FC236}">
                <a16:creationId xmlns:a16="http://schemas.microsoft.com/office/drawing/2014/main" id="{2EB4DC10-BDBE-4895-B685-6B74AA962F92}"/>
              </a:ext>
            </a:extLst>
          </p:cNvPr>
          <p:cNvSpPr/>
          <p:nvPr/>
        </p:nvSpPr>
        <p:spPr>
          <a:xfrm>
            <a:off x="16117014" y="13854303"/>
            <a:ext cx="3355175" cy="5667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>
                <a:solidFill>
                  <a:schemeClr val="tx1"/>
                </a:solidFill>
              </a:rPr>
              <a:t>c) </a:t>
            </a:r>
            <a:r>
              <a:rPr lang="es-ES" sz="1000" dirty="0">
                <a:solidFill>
                  <a:schemeClr val="tx1"/>
                </a:solidFill>
              </a:rPr>
              <a:t>Una analogía, con relación al problema de interés, podrá conducir a la hipótesis buscada.</a:t>
            </a:r>
            <a:endParaRPr lang="es-CO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7" name="Conector recto de flecha 176">
            <a:extLst>
              <a:ext uri="{FF2B5EF4-FFF2-40B4-BE49-F238E27FC236}">
                <a16:creationId xmlns:a16="http://schemas.microsoft.com/office/drawing/2014/main" id="{E4672906-245C-92B3-B421-F0C0323A8FD7}"/>
              </a:ext>
            </a:extLst>
          </p:cNvPr>
          <p:cNvCxnSpPr>
            <a:stCxn id="105" idx="2"/>
            <a:endCxn id="109" idx="0"/>
          </p:cNvCxnSpPr>
          <p:nvPr/>
        </p:nvCxnSpPr>
        <p:spPr>
          <a:xfrm>
            <a:off x="28093130" y="2869883"/>
            <a:ext cx="0" cy="359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ector recto de flecha 177">
            <a:extLst>
              <a:ext uri="{FF2B5EF4-FFF2-40B4-BE49-F238E27FC236}">
                <a16:creationId xmlns:a16="http://schemas.microsoft.com/office/drawing/2014/main" id="{A41A335B-D5E6-55BA-C369-C767FFFE4004}"/>
              </a:ext>
            </a:extLst>
          </p:cNvPr>
          <p:cNvCxnSpPr>
            <a:cxnSpLocks/>
            <a:stCxn id="109" idx="2"/>
            <a:endCxn id="106" idx="0"/>
          </p:cNvCxnSpPr>
          <p:nvPr/>
        </p:nvCxnSpPr>
        <p:spPr>
          <a:xfrm flipH="1">
            <a:off x="12519569" y="3583559"/>
            <a:ext cx="15573561" cy="1622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recto de flecha 180">
            <a:extLst>
              <a:ext uri="{FF2B5EF4-FFF2-40B4-BE49-F238E27FC236}">
                <a16:creationId xmlns:a16="http://schemas.microsoft.com/office/drawing/2014/main" id="{EB2A2922-9BD8-EE11-F9F3-E52C4C97E2D3}"/>
              </a:ext>
            </a:extLst>
          </p:cNvPr>
          <p:cNvCxnSpPr>
            <a:cxnSpLocks/>
            <a:stCxn id="106" idx="2"/>
            <a:endCxn id="111" idx="0"/>
          </p:cNvCxnSpPr>
          <p:nvPr/>
        </p:nvCxnSpPr>
        <p:spPr>
          <a:xfrm>
            <a:off x="12519570" y="5560702"/>
            <a:ext cx="1" cy="310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ector recto de flecha 183">
            <a:extLst>
              <a:ext uri="{FF2B5EF4-FFF2-40B4-BE49-F238E27FC236}">
                <a16:creationId xmlns:a16="http://schemas.microsoft.com/office/drawing/2014/main" id="{15921385-3FF2-E80B-726F-FF09C8BFD021}"/>
              </a:ext>
            </a:extLst>
          </p:cNvPr>
          <p:cNvCxnSpPr>
            <a:cxnSpLocks/>
          </p:cNvCxnSpPr>
          <p:nvPr/>
        </p:nvCxnSpPr>
        <p:spPr>
          <a:xfrm flipH="1">
            <a:off x="10579193" y="7965512"/>
            <a:ext cx="1241228" cy="1049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690F3815-591E-444A-333C-0F764384B504}"/>
              </a:ext>
            </a:extLst>
          </p:cNvPr>
          <p:cNvCxnSpPr>
            <a:cxnSpLocks/>
          </p:cNvCxnSpPr>
          <p:nvPr/>
        </p:nvCxnSpPr>
        <p:spPr>
          <a:xfrm flipV="1">
            <a:off x="12518383" y="7035024"/>
            <a:ext cx="1" cy="4378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recto de flecha 189">
            <a:extLst>
              <a:ext uri="{FF2B5EF4-FFF2-40B4-BE49-F238E27FC236}">
                <a16:creationId xmlns:a16="http://schemas.microsoft.com/office/drawing/2014/main" id="{BAF35558-1DDF-9AC4-F6AB-6B4AA46999A3}"/>
              </a:ext>
            </a:extLst>
          </p:cNvPr>
          <p:cNvCxnSpPr>
            <a:cxnSpLocks/>
            <a:stCxn id="114" idx="1"/>
            <a:endCxn id="150" idx="0"/>
          </p:cNvCxnSpPr>
          <p:nvPr/>
        </p:nvCxnSpPr>
        <p:spPr>
          <a:xfrm flipH="1">
            <a:off x="6851803" y="7655481"/>
            <a:ext cx="4832442" cy="824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Conector recto de flecha 1024">
            <a:extLst>
              <a:ext uri="{FF2B5EF4-FFF2-40B4-BE49-F238E27FC236}">
                <a16:creationId xmlns:a16="http://schemas.microsoft.com/office/drawing/2014/main" id="{E7B878CB-5A5A-8857-75CE-55B25026E687}"/>
              </a:ext>
            </a:extLst>
          </p:cNvPr>
          <p:cNvCxnSpPr>
            <a:cxnSpLocks/>
            <a:endCxn id="148" idx="0"/>
          </p:cNvCxnSpPr>
          <p:nvPr/>
        </p:nvCxnSpPr>
        <p:spPr>
          <a:xfrm>
            <a:off x="12913284" y="7965513"/>
            <a:ext cx="1053653" cy="1038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ector recto 1031">
            <a:extLst>
              <a:ext uri="{FF2B5EF4-FFF2-40B4-BE49-F238E27FC236}">
                <a16:creationId xmlns:a16="http://schemas.microsoft.com/office/drawing/2014/main" id="{3BBAD620-C305-E4EC-C879-162E782314A9}"/>
              </a:ext>
            </a:extLst>
          </p:cNvPr>
          <p:cNvCxnSpPr>
            <a:cxnSpLocks/>
          </p:cNvCxnSpPr>
          <p:nvPr/>
        </p:nvCxnSpPr>
        <p:spPr>
          <a:xfrm flipV="1">
            <a:off x="6788897" y="9785999"/>
            <a:ext cx="0" cy="275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ector recto de flecha 1040">
            <a:extLst>
              <a:ext uri="{FF2B5EF4-FFF2-40B4-BE49-F238E27FC236}">
                <a16:creationId xmlns:a16="http://schemas.microsoft.com/office/drawing/2014/main" id="{E821935E-1B54-5C7C-4AE8-A35E4F571C4A}"/>
              </a:ext>
            </a:extLst>
          </p:cNvPr>
          <p:cNvCxnSpPr>
            <a:cxnSpLocks/>
            <a:endCxn id="121" idx="0"/>
          </p:cNvCxnSpPr>
          <p:nvPr/>
        </p:nvCxnSpPr>
        <p:spPr>
          <a:xfrm flipH="1">
            <a:off x="5134820" y="10316283"/>
            <a:ext cx="791244" cy="536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Conector recto de flecha 1042">
            <a:extLst>
              <a:ext uri="{FF2B5EF4-FFF2-40B4-BE49-F238E27FC236}">
                <a16:creationId xmlns:a16="http://schemas.microsoft.com/office/drawing/2014/main" id="{CEA04341-8604-E052-9AF6-4431D4AFCDA6}"/>
              </a:ext>
            </a:extLst>
          </p:cNvPr>
          <p:cNvCxnSpPr>
            <a:cxnSpLocks/>
            <a:endCxn id="120" idx="0"/>
          </p:cNvCxnSpPr>
          <p:nvPr/>
        </p:nvCxnSpPr>
        <p:spPr>
          <a:xfrm>
            <a:off x="7684547" y="10276031"/>
            <a:ext cx="744416" cy="576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Conector recto de flecha 1046">
            <a:extLst>
              <a:ext uri="{FF2B5EF4-FFF2-40B4-BE49-F238E27FC236}">
                <a16:creationId xmlns:a16="http://schemas.microsoft.com/office/drawing/2014/main" id="{24E42BF3-B8D2-AADE-933C-1DE0F4FF512D}"/>
              </a:ext>
            </a:extLst>
          </p:cNvPr>
          <p:cNvCxnSpPr>
            <a:cxnSpLocks/>
            <a:endCxn id="119" idx="0"/>
          </p:cNvCxnSpPr>
          <p:nvPr/>
        </p:nvCxnSpPr>
        <p:spPr>
          <a:xfrm>
            <a:off x="7184182" y="10333054"/>
            <a:ext cx="146735" cy="494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Conector recto de flecha 1049">
            <a:extLst>
              <a:ext uri="{FF2B5EF4-FFF2-40B4-BE49-F238E27FC236}">
                <a16:creationId xmlns:a16="http://schemas.microsoft.com/office/drawing/2014/main" id="{35897238-64FB-1390-3758-E523EF268D24}"/>
              </a:ext>
            </a:extLst>
          </p:cNvPr>
          <p:cNvCxnSpPr>
            <a:cxnSpLocks/>
            <a:endCxn id="116" idx="0"/>
          </p:cNvCxnSpPr>
          <p:nvPr/>
        </p:nvCxnSpPr>
        <p:spPr>
          <a:xfrm flipH="1">
            <a:off x="6232868" y="10392855"/>
            <a:ext cx="246950" cy="4342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onector recto 1054">
            <a:extLst>
              <a:ext uri="{FF2B5EF4-FFF2-40B4-BE49-F238E27FC236}">
                <a16:creationId xmlns:a16="http://schemas.microsoft.com/office/drawing/2014/main" id="{4E0B386E-58EF-DF24-294D-2C3DA8C4631E}"/>
              </a:ext>
            </a:extLst>
          </p:cNvPr>
          <p:cNvCxnSpPr>
            <a:cxnSpLocks/>
          </p:cNvCxnSpPr>
          <p:nvPr/>
        </p:nvCxnSpPr>
        <p:spPr>
          <a:xfrm flipV="1">
            <a:off x="6760446" y="11155291"/>
            <a:ext cx="0" cy="275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Conector recto 1055">
            <a:extLst>
              <a:ext uri="{FF2B5EF4-FFF2-40B4-BE49-F238E27FC236}">
                <a16:creationId xmlns:a16="http://schemas.microsoft.com/office/drawing/2014/main" id="{2D7E8640-1FC2-D354-3091-2F9A2A860091}"/>
              </a:ext>
            </a:extLst>
          </p:cNvPr>
          <p:cNvCxnSpPr>
            <a:cxnSpLocks/>
          </p:cNvCxnSpPr>
          <p:nvPr/>
        </p:nvCxnSpPr>
        <p:spPr>
          <a:xfrm flipH="1">
            <a:off x="4686012" y="11164739"/>
            <a:ext cx="4191761" cy="10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Conector recto de flecha 1062">
            <a:extLst>
              <a:ext uri="{FF2B5EF4-FFF2-40B4-BE49-F238E27FC236}">
                <a16:creationId xmlns:a16="http://schemas.microsoft.com/office/drawing/2014/main" id="{42555CB4-47E2-B2D7-A02B-0660FB3E7A3B}"/>
              </a:ext>
            </a:extLst>
          </p:cNvPr>
          <p:cNvCxnSpPr>
            <a:cxnSpLocks/>
            <a:stCxn id="123" idx="1"/>
            <a:endCxn id="124" idx="0"/>
          </p:cNvCxnSpPr>
          <p:nvPr/>
        </p:nvCxnSpPr>
        <p:spPr>
          <a:xfrm flipH="1">
            <a:off x="4151795" y="11558092"/>
            <a:ext cx="1576356" cy="536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Conector recto de flecha 1064">
            <a:extLst>
              <a:ext uri="{FF2B5EF4-FFF2-40B4-BE49-F238E27FC236}">
                <a16:creationId xmlns:a16="http://schemas.microsoft.com/office/drawing/2014/main" id="{3310E127-3733-5DF3-14DF-1B6E30CCFC72}"/>
              </a:ext>
            </a:extLst>
          </p:cNvPr>
          <p:cNvCxnSpPr>
            <a:cxnSpLocks/>
            <a:stCxn id="123" idx="3"/>
            <a:endCxn id="126" idx="0"/>
          </p:cNvCxnSpPr>
          <p:nvPr/>
        </p:nvCxnSpPr>
        <p:spPr>
          <a:xfrm>
            <a:off x="7849642" y="11558091"/>
            <a:ext cx="702630" cy="371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Conector recto de flecha 1068">
            <a:extLst>
              <a:ext uri="{FF2B5EF4-FFF2-40B4-BE49-F238E27FC236}">
                <a16:creationId xmlns:a16="http://schemas.microsoft.com/office/drawing/2014/main" id="{01D9505E-D283-4ACD-73F2-28B4E2585149}"/>
              </a:ext>
            </a:extLst>
          </p:cNvPr>
          <p:cNvCxnSpPr>
            <a:cxnSpLocks/>
          </p:cNvCxnSpPr>
          <p:nvPr/>
        </p:nvCxnSpPr>
        <p:spPr>
          <a:xfrm flipH="1">
            <a:off x="2823028" y="13226144"/>
            <a:ext cx="860123" cy="3130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Conector recto de flecha 1070">
            <a:extLst>
              <a:ext uri="{FF2B5EF4-FFF2-40B4-BE49-F238E27FC236}">
                <a16:creationId xmlns:a16="http://schemas.microsoft.com/office/drawing/2014/main" id="{4CB1637E-34DB-22FF-0B58-D9263FEC3462}"/>
              </a:ext>
            </a:extLst>
          </p:cNvPr>
          <p:cNvCxnSpPr>
            <a:cxnSpLocks/>
            <a:endCxn id="140" idx="0"/>
          </p:cNvCxnSpPr>
          <p:nvPr/>
        </p:nvCxnSpPr>
        <p:spPr>
          <a:xfrm>
            <a:off x="4854422" y="13196588"/>
            <a:ext cx="716234" cy="406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Conector recto 1073">
            <a:extLst>
              <a:ext uri="{FF2B5EF4-FFF2-40B4-BE49-F238E27FC236}">
                <a16:creationId xmlns:a16="http://schemas.microsoft.com/office/drawing/2014/main" id="{07A1D50D-91CC-6819-8604-9479A8B7EA96}"/>
              </a:ext>
            </a:extLst>
          </p:cNvPr>
          <p:cNvCxnSpPr>
            <a:cxnSpLocks/>
          </p:cNvCxnSpPr>
          <p:nvPr/>
        </p:nvCxnSpPr>
        <p:spPr>
          <a:xfrm flipV="1">
            <a:off x="4151793" y="12734855"/>
            <a:ext cx="0" cy="275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Conector recto 1077">
            <a:extLst>
              <a:ext uri="{FF2B5EF4-FFF2-40B4-BE49-F238E27FC236}">
                <a16:creationId xmlns:a16="http://schemas.microsoft.com/office/drawing/2014/main" id="{DC53510B-56F8-2845-545E-9755E3FEA2DD}"/>
              </a:ext>
            </a:extLst>
          </p:cNvPr>
          <p:cNvCxnSpPr>
            <a:cxnSpLocks/>
          </p:cNvCxnSpPr>
          <p:nvPr/>
        </p:nvCxnSpPr>
        <p:spPr>
          <a:xfrm flipV="1">
            <a:off x="8552271" y="12811673"/>
            <a:ext cx="0" cy="275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9" name="Conector recto de flecha 1078">
            <a:extLst>
              <a:ext uri="{FF2B5EF4-FFF2-40B4-BE49-F238E27FC236}">
                <a16:creationId xmlns:a16="http://schemas.microsoft.com/office/drawing/2014/main" id="{BBEE6B47-E09D-CD16-BF2F-98A479BB4896}"/>
              </a:ext>
            </a:extLst>
          </p:cNvPr>
          <p:cNvCxnSpPr>
            <a:cxnSpLocks/>
          </p:cNvCxnSpPr>
          <p:nvPr/>
        </p:nvCxnSpPr>
        <p:spPr>
          <a:xfrm>
            <a:off x="8554283" y="13412621"/>
            <a:ext cx="0" cy="343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Conector recto de flecha 1084">
            <a:extLst>
              <a:ext uri="{FF2B5EF4-FFF2-40B4-BE49-F238E27FC236}">
                <a16:creationId xmlns:a16="http://schemas.microsoft.com/office/drawing/2014/main" id="{DD4B029E-DC78-9F90-E62D-A59496460603}"/>
              </a:ext>
            </a:extLst>
          </p:cNvPr>
          <p:cNvCxnSpPr>
            <a:cxnSpLocks/>
          </p:cNvCxnSpPr>
          <p:nvPr/>
        </p:nvCxnSpPr>
        <p:spPr>
          <a:xfrm>
            <a:off x="8552271" y="14006977"/>
            <a:ext cx="0" cy="343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onector recto de flecha 1085">
            <a:extLst>
              <a:ext uri="{FF2B5EF4-FFF2-40B4-BE49-F238E27FC236}">
                <a16:creationId xmlns:a16="http://schemas.microsoft.com/office/drawing/2014/main" id="{FA39D0AD-D158-33B0-C164-F0180D15377A}"/>
              </a:ext>
            </a:extLst>
          </p:cNvPr>
          <p:cNvCxnSpPr>
            <a:cxnSpLocks/>
          </p:cNvCxnSpPr>
          <p:nvPr/>
        </p:nvCxnSpPr>
        <p:spPr>
          <a:xfrm>
            <a:off x="8552271" y="14568835"/>
            <a:ext cx="0" cy="343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7" name="Conector recto de flecha 1086">
            <a:extLst>
              <a:ext uri="{FF2B5EF4-FFF2-40B4-BE49-F238E27FC236}">
                <a16:creationId xmlns:a16="http://schemas.microsoft.com/office/drawing/2014/main" id="{472F4DB8-7BFD-0313-0B64-E5AF10EACEB8}"/>
              </a:ext>
            </a:extLst>
          </p:cNvPr>
          <p:cNvCxnSpPr>
            <a:cxnSpLocks/>
          </p:cNvCxnSpPr>
          <p:nvPr/>
        </p:nvCxnSpPr>
        <p:spPr>
          <a:xfrm>
            <a:off x="8556163" y="15133725"/>
            <a:ext cx="0" cy="343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Conector recto de flecha 1087">
            <a:extLst>
              <a:ext uri="{FF2B5EF4-FFF2-40B4-BE49-F238E27FC236}">
                <a16:creationId xmlns:a16="http://schemas.microsoft.com/office/drawing/2014/main" id="{B4EEC90F-C39E-0678-9E00-A890278446AC}"/>
              </a:ext>
            </a:extLst>
          </p:cNvPr>
          <p:cNvCxnSpPr>
            <a:cxnSpLocks/>
          </p:cNvCxnSpPr>
          <p:nvPr/>
        </p:nvCxnSpPr>
        <p:spPr>
          <a:xfrm>
            <a:off x="10579193" y="9329592"/>
            <a:ext cx="0" cy="1070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9" name="Conector recto de flecha 1088">
            <a:extLst>
              <a:ext uri="{FF2B5EF4-FFF2-40B4-BE49-F238E27FC236}">
                <a16:creationId xmlns:a16="http://schemas.microsoft.com/office/drawing/2014/main" id="{1B7C0C85-7CE7-53B2-C4CE-C077BB7F6A60}"/>
              </a:ext>
            </a:extLst>
          </p:cNvPr>
          <p:cNvCxnSpPr>
            <a:cxnSpLocks/>
          </p:cNvCxnSpPr>
          <p:nvPr/>
        </p:nvCxnSpPr>
        <p:spPr>
          <a:xfrm>
            <a:off x="10579193" y="10653490"/>
            <a:ext cx="0" cy="1070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0" name="Conector recto de flecha 1089">
            <a:extLst>
              <a:ext uri="{FF2B5EF4-FFF2-40B4-BE49-F238E27FC236}">
                <a16:creationId xmlns:a16="http://schemas.microsoft.com/office/drawing/2014/main" id="{C9852C9B-F0EF-979F-2391-521184B587CC}"/>
              </a:ext>
            </a:extLst>
          </p:cNvPr>
          <p:cNvCxnSpPr>
            <a:cxnSpLocks/>
          </p:cNvCxnSpPr>
          <p:nvPr/>
        </p:nvCxnSpPr>
        <p:spPr>
          <a:xfrm>
            <a:off x="10595000" y="11955636"/>
            <a:ext cx="0" cy="343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1" name="Conector recto 1090">
            <a:extLst>
              <a:ext uri="{FF2B5EF4-FFF2-40B4-BE49-F238E27FC236}">
                <a16:creationId xmlns:a16="http://schemas.microsoft.com/office/drawing/2014/main" id="{DEFE7477-4C4D-081B-5F04-A23EF658A812}"/>
              </a:ext>
            </a:extLst>
          </p:cNvPr>
          <p:cNvCxnSpPr>
            <a:cxnSpLocks/>
          </p:cNvCxnSpPr>
          <p:nvPr/>
        </p:nvCxnSpPr>
        <p:spPr>
          <a:xfrm flipV="1">
            <a:off x="11185707" y="9537057"/>
            <a:ext cx="0" cy="17558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Conector recto 1093">
            <a:extLst>
              <a:ext uri="{FF2B5EF4-FFF2-40B4-BE49-F238E27FC236}">
                <a16:creationId xmlns:a16="http://schemas.microsoft.com/office/drawing/2014/main" id="{1FFED612-E053-E7FD-70B1-B15A7FE284AB}"/>
              </a:ext>
            </a:extLst>
          </p:cNvPr>
          <p:cNvCxnSpPr>
            <a:cxnSpLocks/>
          </p:cNvCxnSpPr>
          <p:nvPr/>
        </p:nvCxnSpPr>
        <p:spPr>
          <a:xfrm>
            <a:off x="11187486" y="9556098"/>
            <a:ext cx="1714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onector recto 1096">
            <a:extLst>
              <a:ext uri="{FF2B5EF4-FFF2-40B4-BE49-F238E27FC236}">
                <a16:creationId xmlns:a16="http://schemas.microsoft.com/office/drawing/2014/main" id="{3A7C2EAE-B3CF-06B2-DC1E-786C2702C6A9}"/>
              </a:ext>
            </a:extLst>
          </p:cNvPr>
          <p:cNvCxnSpPr>
            <a:cxnSpLocks/>
          </p:cNvCxnSpPr>
          <p:nvPr/>
        </p:nvCxnSpPr>
        <p:spPr>
          <a:xfrm>
            <a:off x="11200186" y="10038698"/>
            <a:ext cx="1714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8" name="Conector recto 1097">
            <a:extLst>
              <a:ext uri="{FF2B5EF4-FFF2-40B4-BE49-F238E27FC236}">
                <a16:creationId xmlns:a16="http://schemas.microsoft.com/office/drawing/2014/main" id="{9EB5EF6D-7CB4-9208-CE24-0D4BB9DCFA34}"/>
              </a:ext>
            </a:extLst>
          </p:cNvPr>
          <p:cNvCxnSpPr>
            <a:cxnSpLocks/>
          </p:cNvCxnSpPr>
          <p:nvPr/>
        </p:nvCxnSpPr>
        <p:spPr>
          <a:xfrm>
            <a:off x="11187486" y="10508598"/>
            <a:ext cx="1714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Conector recto 1098">
            <a:extLst>
              <a:ext uri="{FF2B5EF4-FFF2-40B4-BE49-F238E27FC236}">
                <a16:creationId xmlns:a16="http://schemas.microsoft.com/office/drawing/2014/main" id="{E36A4523-9893-708D-DE48-633A8CCFBC56}"/>
              </a:ext>
            </a:extLst>
          </p:cNvPr>
          <p:cNvCxnSpPr>
            <a:cxnSpLocks/>
          </p:cNvCxnSpPr>
          <p:nvPr/>
        </p:nvCxnSpPr>
        <p:spPr>
          <a:xfrm>
            <a:off x="11187486" y="10927698"/>
            <a:ext cx="1714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0" name="Conector recto 1099">
            <a:extLst>
              <a:ext uri="{FF2B5EF4-FFF2-40B4-BE49-F238E27FC236}">
                <a16:creationId xmlns:a16="http://schemas.microsoft.com/office/drawing/2014/main" id="{C8DB36DD-6CB5-F620-D65C-685949350B83}"/>
              </a:ext>
            </a:extLst>
          </p:cNvPr>
          <p:cNvCxnSpPr>
            <a:cxnSpLocks/>
          </p:cNvCxnSpPr>
          <p:nvPr/>
        </p:nvCxnSpPr>
        <p:spPr>
          <a:xfrm>
            <a:off x="11174786" y="11295998"/>
            <a:ext cx="1714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2" name="Conector recto 1101">
            <a:extLst>
              <a:ext uri="{FF2B5EF4-FFF2-40B4-BE49-F238E27FC236}">
                <a16:creationId xmlns:a16="http://schemas.microsoft.com/office/drawing/2014/main" id="{98CB9C33-5A0B-A24F-04D5-E7509F63177A}"/>
              </a:ext>
            </a:extLst>
          </p:cNvPr>
          <p:cNvCxnSpPr>
            <a:cxnSpLocks/>
            <a:stCxn id="145" idx="3"/>
          </p:cNvCxnSpPr>
          <p:nvPr/>
        </p:nvCxnSpPr>
        <p:spPr>
          <a:xfrm flipV="1">
            <a:off x="11076005" y="10497169"/>
            <a:ext cx="109644" cy="64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9" name="Conector recto 1108">
            <a:extLst>
              <a:ext uri="{FF2B5EF4-FFF2-40B4-BE49-F238E27FC236}">
                <a16:creationId xmlns:a16="http://schemas.microsoft.com/office/drawing/2014/main" id="{B7034F8A-714E-2479-704A-A5E58F7C26FF}"/>
              </a:ext>
            </a:extLst>
          </p:cNvPr>
          <p:cNvCxnSpPr>
            <a:cxnSpLocks/>
            <a:stCxn id="156" idx="0"/>
          </p:cNvCxnSpPr>
          <p:nvPr/>
        </p:nvCxnSpPr>
        <p:spPr>
          <a:xfrm flipV="1">
            <a:off x="13966937" y="9289695"/>
            <a:ext cx="0" cy="1769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2" name="Conector recto de flecha 1111">
            <a:extLst>
              <a:ext uri="{FF2B5EF4-FFF2-40B4-BE49-F238E27FC236}">
                <a16:creationId xmlns:a16="http://schemas.microsoft.com/office/drawing/2014/main" id="{1FFD0336-3DE0-6AC5-B1DA-7170A27FF66B}"/>
              </a:ext>
            </a:extLst>
          </p:cNvPr>
          <p:cNvCxnSpPr>
            <a:cxnSpLocks/>
            <a:stCxn id="156" idx="2"/>
            <a:endCxn id="157" idx="0"/>
          </p:cNvCxnSpPr>
          <p:nvPr/>
        </p:nvCxnSpPr>
        <p:spPr>
          <a:xfrm flipH="1">
            <a:off x="13109835" y="9854433"/>
            <a:ext cx="857103" cy="18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6" name="Conector recto de flecha 1115">
            <a:extLst>
              <a:ext uri="{FF2B5EF4-FFF2-40B4-BE49-F238E27FC236}">
                <a16:creationId xmlns:a16="http://schemas.microsoft.com/office/drawing/2014/main" id="{0F7C1A63-6B5E-AB6C-0ED9-F81093184ACF}"/>
              </a:ext>
            </a:extLst>
          </p:cNvPr>
          <p:cNvCxnSpPr>
            <a:cxnSpLocks/>
            <a:stCxn id="156" idx="2"/>
            <a:endCxn id="160" idx="0"/>
          </p:cNvCxnSpPr>
          <p:nvPr/>
        </p:nvCxnSpPr>
        <p:spPr>
          <a:xfrm>
            <a:off x="13966937" y="9854433"/>
            <a:ext cx="905418" cy="18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9" name="Conector recto de flecha 1118">
            <a:extLst>
              <a:ext uri="{FF2B5EF4-FFF2-40B4-BE49-F238E27FC236}">
                <a16:creationId xmlns:a16="http://schemas.microsoft.com/office/drawing/2014/main" id="{F34AC424-F27D-43AF-DBFB-891AA7128685}"/>
              </a:ext>
            </a:extLst>
          </p:cNvPr>
          <p:cNvCxnSpPr>
            <a:cxnSpLocks/>
            <a:stCxn id="157" idx="2"/>
            <a:endCxn id="158" idx="0"/>
          </p:cNvCxnSpPr>
          <p:nvPr/>
        </p:nvCxnSpPr>
        <p:spPr>
          <a:xfrm>
            <a:off x="13109834" y="10276032"/>
            <a:ext cx="0" cy="333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2" name="Conector recto de flecha 1121">
            <a:extLst>
              <a:ext uri="{FF2B5EF4-FFF2-40B4-BE49-F238E27FC236}">
                <a16:creationId xmlns:a16="http://schemas.microsoft.com/office/drawing/2014/main" id="{845A5D0C-BAD1-6584-3E1A-D23B6AE2B499}"/>
              </a:ext>
            </a:extLst>
          </p:cNvPr>
          <p:cNvCxnSpPr>
            <a:cxnSpLocks/>
          </p:cNvCxnSpPr>
          <p:nvPr/>
        </p:nvCxnSpPr>
        <p:spPr>
          <a:xfrm>
            <a:off x="13109834" y="10814509"/>
            <a:ext cx="0" cy="333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3" name="Conector recto de flecha 1122">
            <a:extLst>
              <a:ext uri="{FF2B5EF4-FFF2-40B4-BE49-F238E27FC236}">
                <a16:creationId xmlns:a16="http://schemas.microsoft.com/office/drawing/2014/main" id="{E1A2FEE2-D55F-0285-6262-E4B1A8F715F0}"/>
              </a:ext>
            </a:extLst>
          </p:cNvPr>
          <p:cNvCxnSpPr>
            <a:cxnSpLocks/>
          </p:cNvCxnSpPr>
          <p:nvPr/>
        </p:nvCxnSpPr>
        <p:spPr>
          <a:xfrm>
            <a:off x="14949066" y="11062901"/>
            <a:ext cx="0" cy="333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4" name="Conector recto 1123">
            <a:extLst>
              <a:ext uri="{FF2B5EF4-FFF2-40B4-BE49-F238E27FC236}">
                <a16:creationId xmlns:a16="http://schemas.microsoft.com/office/drawing/2014/main" id="{FFD38E3F-E505-81E9-4EE7-0AAA877B1317}"/>
              </a:ext>
            </a:extLst>
          </p:cNvPr>
          <p:cNvCxnSpPr>
            <a:cxnSpLocks/>
          </p:cNvCxnSpPr>
          <p:nvPr/>
        </p:nvCxnSpPr>
        <p:spPr>
          <a:xfrm flipV="1">
            <a:off x="14949067" y="10254156"/>
            <a:ext cx="0" cy="3688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6" name="Conector recto de flecha 1125">
            <a:extLst>
              <a:ext uri="{FF2B5EF4-FFF2-40B4-BE49-F238E27FC236}">
                <a16:creationId xmlns:a16="http://schemas.microsoft.com/office/drawing/2014/main" id="{E21635A1-6929-17B2-0171-05B5D461BEEA}"/>
              </a:ext>
            </a:extLst>
          </p:cNvPr>
          <p:cNvCxnSpPr>
            <a:cxnSpLocks/>
          </p:cNvCxnSpPr>
          <p:nvPr/>
        </p:nvCxnSpPr>
        <p:spPr>
          <a:xfrm>
            <a:off x="14961653" y="11656752"/>
            <a:ext cx="0" cy="333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7" name="Conector recto de flecha 1126">
            <a:extLst>
              <a:ext uri="{FF2B5EF4-FFF2-40B4-BE49-F238E27FC236}">
                <a16:creationId xmlns:a16="http://schemas.microsoft.com/office/drawing/2014/main" id="{EEAD1084-2E4F-C16B-3515-2C9E9832BF88}"/>
              </a:ext>
            </a:extLst>
          </p:cNvPr>
          <p:cNvCxnSpPr>
            <a:cxnSpLocks/>
          </p:cNvCxnSpPr>
          <p:nvPr/>
        </p:nvCxnSpPr>
        <p:spPr>
          <a:xfrm>
            <a:off x="14949066" y="12259132"/>
            <a:ext cx="0" cy="333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3" name="Conector recto de flecha 1132">
            <a:extLst>
              <a:ext uri="{FF2B5EF4-FFF2-40B4-BE49-F238E27FC236}">
                <a16:creationId xmlns:a16="http://schemas.microsoft.com/office/drawing/2014/main" id="{65433B00-0560-5063-78C6-56A464C371BC}"/>
              </a:ext>
            </a:extLst>
          </p:cNvPr>
          <p:cNvCxnSpPr>
            <a:cxnSpLocks/>
            <a:stCxn id="114" idx="3"/>
            <a:endCxn id="149" idx="0"/>
          </p:cNvCxnSpPr>
          <p:nvPr/>
        </p:nvCxnSpPr>
        <p:spPr>
          <a:xfrm>
            <a:off x="13089502" y="7655481"/>
            <a:ext cx="4719728" cy="954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6" name="Conector recto 1135">
            <a:extLst>
              <a:ext uri="{FF2B5EF4-FFF2-40B4-BE49-F238E27FC236}">
                <a16:creationId xmlns:a16="http://schemas.microsoft.com/office/drawing/2014/main" id="{137BC947-4592-6E58-BA59-994EBDF35525}"/>
              </a:ext>
            </a:extLst>
          </p:cNvPr>
          <p:cNvCxnSpPr>
            <a:cxnSpLocks/>
            <a:stCxn id="143" idx="1"/>
            <a:endCxn id="150" idx="3"/>
          </p:cNvCxnSpPr>
          <p:nvPr/>
        </p:nvCxnSpPr>
        <p:spPr>
          <a:xfrm flipH="1">
            <a:off x="8033533" y="9122738"/>
            <a:ext cx="406392" cy="10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2" name="Conector recto 1141">
            <a:extLst>
              <a:ext uri="{FF2B5EF4-FFF2-40B4-BE49-F238E27FC236}">
                <a16:creationId xmlns:a16="http://schemas.microsoft.com/office/drawing/2014/main" id="{BCCE8932-685D-2B6A-82F6-0A52A246EC02}"/>
              </a:ext>
            </a:extLst>
          </p:cNvPr>
          <p:cNvCxnSpPr>
            <a:cxnSpLocks/>
          </p:cNvCxnSpPr>
          <p:nvPr/>
        </p:nvCxnSpPr>
        <p:spPr>
          <a:xfrm flipH="1">
            <a:off x="9771995" y="9122738"/>
            <a:ext cx="406392" cy="10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3" name="Conector recto de flecha 1142">
            <a:extLst>
              <a:ext uri="{FF2B5EF4-FFF2-40B4-BE49-F238E27FC236}">
                <a16:creationId xmlns:a16="http://schemas.microsoft.com/office/drawing/2014/main" id="{6C20736E-C458-0197-4097-9FEF7B05D610}"/>
              </a:ext>
            </a:extLst>
          </p:cNvPr>
          <p:cNvCxnSpPr>
            <a:cxnSpLocks/>
          </p:cNvCxnSpPr>
          <p:nvPr/>
        </p:nvCxnSpPr>
        <p:spPr>
          <a:xfrm>
            <a:off x="17809230" y="9638107"/>
            <a:ext cx="0" cy="394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8" name="Conector recto de flecha 1147">
            <a:extLst>
              <a:ext uri="{FF2B5EF4-FFF2-40B4-BE49-F238E27FC236}">
                <a16:creationId xmlns:a16="http://schemas.microsoft.com/office/drawing/2014/main" id="{F055B63E-A934-D95F-11DA-C08E3B169251}"/>
              </a:ext>
            </a:extLst>
          </p:cNvPr>
          <p:cNvCxnSpPr>
            <a:cxnSpLocks/>
            <a:endCxn id="169" idx="0"/>
          </p:cNvCxnSpPr>
          <p:nvPr/>
        </p:nvCxnSpPr>
        <p:spPr>
          <a:xfrm flipH="1">
            <a:off x="16898733" y="10252547"/>
            <a:ext cx="476202" cy="360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1" name="Conector recto de flecha 1150">
            <a:extLst>
              <a:ext uri="{FF2B5EF4-FFF2-40B4-BE49-F238E27FC236}">
                <a16:creationId xmlns:a16="http://schemas.microsoft.com/office/drawing/2014/main" id="{88307EC7-99EF-21EB-5CA7-DDFC6C30660A}"/>
              </a:ext>
            </a:extLst>
          </p:cNvPr>
          <p:cNvCxnSpPr>
            <a:cxnSpLocks/>
            <a:endCxn id="168" idx="0"/>
          </p:cNvCxnSpPr>
          <p:nvPr/>
        </p:nvCxnSpPr>
        <p:spPr>
          <a:xfrm>
            <a:off x="18283244" y="10272591"/>
            <a:ext cx="472499" cy="433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3" name="Conector recto de flecha 1162">
            <a:extLst>
              <a:ext uri="{FF2B5EF4-FFF2-40B4-BE49-F238E27FC236}">
                <a16:creationId xmlns:a16="http://schemas.microsoft.com/office/drawing/2014/main" id="{5711DDF5-8DE8-924B-4E49-D744208F9A37}"/>
              </a:ext>
            </a:extLst>
          </p:cNvPr>
          <p:cNvCxnSpPr>
            <a:cxnSpLocks/>
            <a:stCxn id="169" idx="2"/>
          </p:cNvCxnSpPr>
          <p:nvPr/>
        </p:nvCxnSpPr>
        <p:spPr>
          <a:xfrm>
            <a:off x="16898733" y="11167280"/>
            <a:ext cx="0" cy="431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4" name="Conector recto de flecha 1163">
            <a:extLst>
              <a:ext uri="{FF2B5EF4-FFF2-40B4-BE49-F238E27FC236}">
                <a16:creationId xmlns:a16="http://schemas.microsoft.com/office/drawing/2014/main" id="{4E5436A6-F961-31B1-EC14-5444E1C3D53F}"/>
              </a:ext>
            </a:extLst>
          </p:cNvPr>
          <p:cNvCxnSpPr>
            <a:cxnSpLocks/>
            <a:stCxn id="168" idx="2"/>
          </p:cNvCxnSpPr>
          <p:nvPr/>
        </p:nvCxnSpPr>
        <p:spPr>
          <a:xfrm flipH="1">
            <a:off x="18755742" y="11086906"/>
            <a:ext cx="1" cy="537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1" name="Conector recto de flecha 1170">
            <a:extLst>
              <a:ext uri="{FF2B5EF4-FFF2-40B4-BE49-F238E27FC236}">
                <a16:creationId xmlns:a16="http://schemas.microsoft.com/office/drawing/2014/main" id="{5D0ECF57-28E0-D510-C9FE-28260CDC42A8}"/>
              </a:ext>
            </a:extLst>
          </p:cNvPr>
          <p:cNvCxnSpPr>
            <a:cxnSpLocks/>
          </p:cNvCxnSpPr>
          <p:nvPr/>
        </p:nvCxnSpPr>
        <p:spPr>
          <a:xfrm>
            <a:off x="16883415" y="12165981"/>
            <a:ext cx="0" cy="431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2" name="Conector recto de flecha 1171">
            <a:extLst>
              <a:ext uri="{FF2B5EF4-FFF2-40B4-BE49-F238E27FC236}">
                <a16:creationId xmlns:a16="http://schemas.microsoft.com/office/drawing/2014/main" id="{4CD5C148-932C-BA13-750A-FA5FC445FD15}"/>
              </a:ext>
            </a:extLst>
          </p:cNvPr>
          <p:cNvCxnSpPr>
            <a:cxnSpLocks/>
          </p:cNvCxnSpPr>
          <p:nvPr/>
        </p:nvCxnSpPr>
        <p:spPr>
          <a:xfrm>
            <a:off x="18759141" y="12154703"/>
            <a:ext cx="0" cy="431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3" name="Conector recto de flecha 1172">
            <a:extLst>
              <a:ext uri="{FF2B5EF4-FFF2-40B4-BE49-F238E27FC236}">
                <a16:creationId xmlns:a16="http://schemas.microsoft.com/office/drawing/2014/main" id="{FDA13B5E-C48D-A548-82BF-B6DFA4804B17}"/>
              </a:ext>
            </a:extLst>
          </p:cNvPr>
          <p:cNvCxnSpPr>
            <a:cxnSpLocks/>
          </p:cNvCxnSpPr>
          <p:nvPr/>
        </p:nvCxnSpPr>
        <p:spPr>
          <a:xfrm>
            <a:off x="16898732" y="13430782"/>
            <a:ext cx="0" cy="431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4" name="Conector recto de flecha 1173">
            <a:extLst>
              <a:ext uri="{FF2B5EF4-FFF2-40B4-BE49-F238E27FC236}">
                <a16:creationId xmlns:a16="http://schemas.microsoft.com/office/drawing/2014/main" id="{2459A9B3-B1C6-16BE-7E10-9E28443D2ADC}"/>
              </a:ext>
            </a:extLst>
          </p:cNvPr>
          <p:cNvCxnSpPr>
            <a:cxnSpLocks/>
          </p:cNvCxnSpPr>
          <p:nvPr/>
        </p:nvCxnSpPr>
        <p:spPr>
          <a:xfrm>
            <a:off x="18752130" y="13430782"/>
            <a:ext cx="0" cy="431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5" name="Rectángulo: esquinas redondeadas 1174">
            <a:extLst>
              <a:ext uri="{FF2B5EF4-FFF2-40B4-BE49-F238E27FC236}">
                <a16:creationId xmlns:a16="http://schemas.microsoft.com/office/drawing/2014/main" id="{28697482-1C85-1588-9162-B4C10504485D}"/>
              </a:ext>
            </a:extLst>
          </p:cNvPr>
          <p:cNvSpPr/>
          <p:nvPr/>
        </p:nvSpPr>
        <p:spPr>
          <a:xfrm>
            <a:off x="26474108" y="6279364"/>
            <a:ext cx="3334946" cy="646923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</a:rPr>
              <a:t>los instrumentos de medición son herramientas necesarias para garantizar la calidad de los productos, sea por medición, verificación o control</a:t>
            </a:r>
            <a:endParaRPr lang="es-CO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7" name="Rectángulo: esquinas redondeadas 1176">
            <a:extLst>
              <a:ext uri="{FF2B5EF4-FFF2-40B4-BE49-F238E27FC236}">
                <a16:creationId xmlns:a16="http://schemas.microsoft.com/office/drawing/2014/main" id="{CF82143A-0A11-9C88-6F3A-9D526141E7A7}"/>
              </a:ext>
            </a:extLst>
          </p:cNvPr>
          <p:cNvSpPr/>
          <p:nvPr/>
        </p:nvSpPr>
        <p:spPr>
          <a:xfrm>
            <a:off x="26474108" y="7472831"/>
            <a:ext cx="3334946" cy="1019912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</a:rPr>
              <a:t>Los instrumentos de verificación son formatos de control que se elaboran con el fin de registrar mediciones o el cumplimiento total o parcial de tareas, acciones, funciones o el desempeño de una actividad en particular, bien sea de un sistema, un funcionario, un proceso o procedimiento.</a:t>
            </a:r>
            <a:endParaRPr lang="es-CO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9" name="CuadroTexto 1178">
            <a:extLst>
              <a:ext uri="{FF2B5EF4-FFF2-40B4-BE49-F238E27FC236}">
                <a16:creationId xmlns:a16="http://schemas.microsoft.com/office/drawing/2014/main" id="{6CB8CA99-A899-3671-C666-56A4CBA48479}"/>
              </a:ext>
            </a:extLst>
          </p:cNvPr>
          <p:cNvSpPr txBox="1"/>
          <p:nvPr/>
        </p:nvSpPr>
        <p:spPr>
          <a:xfrm>
            <a:off x="27386647" y="8944926"/>
            <a:ext cx="1405257" cy="24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" b="1" dirty="0"/>
              <a:t>Tenemos</a:t>
            </a:r>
          </a:p>
        </p:txBody>
      </p:sp>
      <p:sp>
        <p:nvSpPr>
          <p:cNvPr id="1181" name="Rectángulo: esquinas redondeadas 1180">
            <a:extLst>
              <a:ext uri="{FF2B5EF4-FFF2-40B4-BE49-F238E27FC236}">
                <a16:creationId xmlns:a16="http://schemas.microsoft.com/office/drawing/2014/main" id="{48273DA8-31A2-9BA3-E1DE-E4EC902522DD}"/>
              </a:ext>
            </a:extLst>
          </p:cNvPr>
          <p:cNvSpPr/>
          <p:nvPr/>
        </p:nvSpPr>
        <p:spPr>
          <a:xfrm>
            <a:off x="20763601" y="9672712"/>
            <a:ext cx="2438345" cy="1983488"/>
          </a:xfrm>
          <a:prstGeom prst="roundRect">
            <a:avLst/>
          </a:prstGeom>
          <a:gradFill flip="none" rotWithShape="1">
            <a:gsLst>
              <a:gs pos="0">
                <a:srgbClr val="FF66FF">
                  <a:tint val="66000"/>
                  <a:satMod val="160000"/>
                </a:srgbClr>
              </a:gs>
              <a:gs pos="50000">
                <a:srgbClr val="FF66FF">
                  <a:tint val="44500"/>
                  <a:satMod val="160000"/>
                </a:srgbClr>
              </a:gs>
              <a:gs pos="100000">
                <a:srgbClr val="FF66FF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>
                <a:solidFill>
                  <a:schemeClr val="tx1"/>
                </a:solidFill>
              </a:rPr>
              <a:t>La lista de chequeo </a:t>
            </a:r>
            <a:r>
              <a:rPr lang="es-ES" sz="1000" dirty="0">
                <a:solidFill>
                  <a:schemeClr val="tx1"/>
                </a:solidFill>
              </a:rPr>
              <a:t>es el instrumento más utilizado para recolectar información en la etapa de requisitos, también conocida como </a:t>
            </a:r>
            <a:r>
              <a:rPr lang="es-ES" sz="1000" i="1" dirty="0">
                <a:solidFill>
                  <a:schemeClr val="tx1"/>
                </a:solidFill>
              </a:rPr>
              <a:t>checklist</a:t>
            </a:r>
            <a:r>
              <a:rPr lang="es-ES" sz="1000" dirty="0">
                <a:solidFill>
                  <a:schemeClr val="tx1"/>
                </a:solidFill>
              </a:rPr>
              <a:t> u hoja de verificación. Es un formato que puede ser analógico o digital, y su función es comprobar, de una forma metódica y sistemática, el cumplimiento o no de los requisitos que contiene la lista, por este motivo, debe ser de fácil uso y muy concretas.</a:t>
            </a:r>
            <a:endParaRPr lang="es-CO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2" name="Rectángulo: esquinas redondeadas 1181">
            <a:extLst>
              <a:ext uri="{FF2B5EF4-FFF2-40B4-BE49-F238E27FC236}">
                <a16:creationId xmlns:a16="http://schemas.microsoft.com/office/drawing/2014/main" id="{FFF7A485-C2B0-F004-FA16-4D106500C15F}"/>
              </a:ext>
            </a:extLst>
          </p:cNvPr>
          <p:cNvSpPr/>
          <p:nvPr/>
        </p:nvSpPr>
        <p:spPr>
          <a:xfrm>
            <a:off x="30865189" y="9634825"/>
            <a:ext cx="2989943" cy="1384404"/>
          </a:xfrm>
          <a:prstGeom prst="roundRect">
            <a:avLst/>
          </a:prstGeom>
          <a:gradFill flip="none" rotWithShape="1">
            <a:gsLst>
              <a:gs pos="0">
                <a:srgbClr val="FF66FF">
                  <a:tint val="66000"/>
                  <a:satMod val="160000"/>
                </a:srgbClr>
              </a:gs>
              <a:gs pos="50000">
                <a:srgbClr val="FF66FF">
                  <a:tint val="44500"/>
                  <a:satMod val="160000"/>
                </a:srgbClr>
              </a:gs>
              <a:gs pos="100000">
                <a:srgbClr val="FF66FF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pt-BR" sz="1000" b="1" dirty="0">
                <a:solidFill>
                  <a:schemeClr val="tx1"/>
                </a:solidFill>
              </a:rPr>
              <a:t>Cálculo de métricas de </a:t>
            </a:r>
            <a:r>
              <a:rPr lang="pt-BR" sz="1000" b="1" i="1" dirty="0">
                <a:solidFill>
                  <a:schemeClr val="tx1"/>
                </a:solidFill>
              </a:rPr>
              <a:t>software: </a:t>
            </a:r>
            <a:r>
              <a:rPr lang="es-ES" sz="1000" dirty="0">
                <a:solidFill>
                  <a:schemeClr val="tx1"/>
                </a:solidFill>
              </a:rPr>
              <a:t>La ingeniería del </a:t>
            </a:r>
            <a:r>
              <a:rPr lang="es-ES" sz="1000" i="1" dirty="0">
                <a:solidFill>
                  <a:schemeClr val="tx1"/>
                </a:solidFill>
              </a:rPr>
              <a:t>software</a:t>
            </a:r>
            <a:r>
              <a:rPr lang="es-ES" sz="1000" dirty="0">
                <a:solidFill>
                  <a:schemeClr val="tx1"/>
                </a:solidFill>
              </a:rPr>
              <a:t> tiene como objetivo producir un sistema de óptima calidad. Para lograr este objetivo, se deben usar métodos efectivos junto con herramientas y aplicaciones actuales. Al mismo tiempo, un buen desarrollador debe medir si la calidad se va a cumplir en todo aspecto.</a:t>
            </a:r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1183" name="CuadroTexto 1182">
            <a:extLst>
              <a:ext uri="{FF2B5EF4-FFF2-40B4-BE49-F238E27FC236}">
                <a16:creationId xmlns:a16="http://schemas.microsoft.com/office/drawing/2014/main" id="{BFEB59A0-8EA7-5ACA-8479-951B4322BC45}"/>
              </a:ext>
            </a:extLst>
          </p:cNvPr>
          <p:cNvSpPr txBox="1"/>
          <p:nvPr/>
        </p:nvSpPr>
        <p:spPr>
          <a:xfrm>
            <a:off x="21282832" y="11917536"/>
            <a:ext cx="1405257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" b="1" dirty="0"/>
              <a:t>Pasos para elaborar la lista d chequeo</a:t>
            </a:r>
          </a:p>
        </p:txBody>
      </p:sp>
      <p:sp>
        <p:nvSpPr>
          <p:cNvPr id="1184" name="Rectángulo: esquinas redondeadas 1183">
            <a:extLst>
              <a:ext uri="{FF2B5EF4-FFF2-40B4-BE49-F238E27FC236}">
                <a16:creationId xmlns:a16="http://schemas.microsoft.com/office/drawing/2014/main" id="{BE560A9D-B8D0-576A-EE91-C3E856F00A0B}"/>
              </a:ext>
            </a:extLst>
          </p:cNvPr>
          <p:cNvSpPr/>
          <p:nvPr/>
        </p:nvSpPr>
        <p:spPr>
          <a:xfrm>
            <a:off x="20771715" y="12587825"/>
            <a:ext cx="2427490" cy="284682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pt-BR" sz="1000" b="1" dirty="0">
                <a:solidFill>
                  <a:schemeClr val="tx1"/>
                </a:solidFill>
              </a:rPr>
              <a:t>Determinar el âmbito</a:t>
            </a:r>
          </a:p>
        </p:txBody>
      </p:sp>
      <p:sp>
        <p:nvSpPr>
          <p:cNvPr id="1185" name="Rectángulo: esquinas redondeadas 1184">
            <a:extLst>
              <a:ext uri="{FF2B5EF4-FFF2-40B4-BE49-F238E27FC236}">
                <a16:creationId xmlns:a16="http://schemas.microsoft.com/office/drawing/2014/main" id="{B80D0B84-534E-C8ED-D611-77B35E6FCC98}"/>
              </a:ext>
            </a:extLst>
          </p:cNvPr>
          <p:cNvSpPr/>
          <p:nvPr/>
        </p:nvSpPr>
        <p:spPr>
          <a:xfrm>
            <a:off x="20771715" y="13178739"/>
            <a:ext cx="2427490" cy="284682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pt-BR" sz="1000" b="1" dirty="0">
                <a:solidFill>
                  <a:schemeClr val="tx1"/>
                </a:solidFill>
              </a:rPr>
              <a:t>Diseñar el formato de verificación</a:t>
            </a:r>
          </a:p>
        </p:txBody>
      </p:sp>
      <p:sp>
        <p:nvSpPr>
          <p:cNvPr id="1186" name="Rectángulo: esquinas redondeadas 1185">
            <a:extLst>
              <a:ext uri="{FF2B5EF4-FFF2-40B4-BE49-F238E27FC236}">
                <a16:creationId xmlns:a16="http://schemas.microsoft.com/office/drawing/2014/main" id="{6A63260F-334B-F649-BFE5-66C8885B1628}"/>
              </a:ext>
            </a:extLst>
          </p:cNvPr>
          <p:cNvSpPr/>
          <p:nvPr/>
        </p:nvSpPr>
        <p:spPr>
          <a:xfrm>
            <a:off x="20771715" y="13748356"/>
            <a:ext cx="2427490" cy="284682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pt-BR" sz="1000" b="1" dirty="0">
                <a:solidFill>
                  <a:schemeClr val="tx1"/>
                </a:solidFill>
              </a:rPr>
              <a:t>Diligenciar lá información</a:t>
            </a:r>
          </a:p>
        </p:txBody>
      </p:sp>
      <p:sp>
        <p:nvSpPr>
          <p:cNvPr id="1188" name="CuadroTexto 1187">
            <a:extLst>
              <a:ext uri="{FF2B5EF4-FFF2-40B4-BE49-F238E27FC236}">
                <a16:creationId xmlns:a16="http://schemas.microsoft.com/office/drawing/2014/main" id="{E32E7067-862B-4BC5-E1A7-8D4894211D7C}"/>
              </a:ext>
            </a:extLst>
          </p:cNvPr>
          <p:cNvSpPr txBox="1"/>
          <p:nvPr/>
        </p:nvSpPr>
        <p:spPr>
          <a:xfrm>
            <a:off x="23267805" y="13086733"/>
            <a:ext cx="1405257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" b="1" dirty="0"/>
              <a:t>Debemos tener en cuenta</a:t>
            </a:r>
          </a:p>
        </p:txBody>
      </p:sp>
      <p:cxnSp>
        <p:nvCxnSpPr>
          <p:cNvPr id="1189" name="Conector recto 1188">
            <a:extLst>
              <a:ext uri="{FF2B5EF4-FFF2-40B4-BE49-F238E27FC236}">
                <a16:creationId xmlns:a16="http://schemas.microsoft.com/office/drawing/2014/main" id="{EC0A6DB4-DDD2-D5D1-D1DD-9ABF562FCA96}"/>
              </a:ext>
            </a:extLst>
          </p:cNvPr>
          <p:cNvCxnSpPr>
            <a:cxnSpLocks/>
          </p:cNvCxnSpPr>
          <p:nvPr/>
        </p:nvCxnSpPr>
        <p:spPr>
          <a:xfrm flipV="1">
            <a:off x="23947237" y="12602935"/>
            <a:ext cx="0" cy="488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8" name="Conector recto 1197">
            <a:extLst>
              <a:ext uri="{FF2B5EF4-FFF2-40B4-BE49-F238E27FC236}">
                <a16:creationId xmlns:a16="http://schemas.microsoft.com/office/drawing/2014/main" id="{BB17A0EF-BA13-B12D-E6A9-C32A033E7C6F}"/>
              </a:ext>
            </a:extLst>
          </p:cNvPr>
          <p:cNvCxnSpPr>
            <a:cxnSpLocks/>
          </p:cNvCxnSpPr>
          <p:nvPr/>
        </p:nvCxnSpPr>
        <p:spPr>
          <a:xfrm flipV="1">
            <a:off x="23959937" y="13437976"/>
            <a:ext cx="0" cy="4889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9" name="Conector recto 1198">
            <a:extLst>
              <a:ext uri="{FF2B5EF4-FFF2-40B4-BE49-F238E27FC236}">
                <a16:creationId xmlns:a16="http://schemas.microsoft.com/office/drawing/2014/main" id="{F4983705-1999-7919-C72E-D89EFD5740B0}"/>
              </a:ext>
            </a:extLst>
          </p:cNvPr>
          <p:cNvCxnSpPr>
            <a:cxnSpLocks/>
          </p:cNvCxnSpPr>
          <p:nvPr/>
        </p:nvCxnSpPr>
        <p:spPr>
          <a:xfrm>
            <a:off x="23305377" y="12602935"/>
            <a:ext cx="660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2" name="Conector recto 1201">
            <a:extLst>
              <a:ext uri="{FF2B5EF4-FFF2-40B4-BE49-F238E27FC236}">
                <a16:creationId xmlns:a16="http://schemas.microsoft.com/office/drawing/2014/main" id="{25D4998A-C945-21D2-C449-D03D589C2D2F}"/>
              </a:ext>
            </a:extLst>
          </p:cNvPr>
          <p:cNvCxnSpPr>
            <a:cxnSpLocks/>
          </p:cNvCxnSpPr>
          <p:nvPr/>
        </p:nvCxnSpPr>
        <p:spPr>
          <a:xfrm>
            <a:off x="23297333" y="13884238"/>
            <a:ext cx="660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3" name="Conector recto 1202">
            <a:extLst>
              <a:ext uri="{FF2B5EF4-FFF2-40B4-BE49-F238E27FC236}">
                <a16:creationId xmlns:a16="http://schemas.microsoft.com/office/drawing/2014/main" id="{8EAF2410-5CFB-135E-7098-B42E5F0F4815}"/>
              </a:ext>
            </a:extLst>
          </p:cNvPr>
          <p:cNvCxnSpPr>
            <a:cxnSpLocks/>
          </p:cNvCxnSpPr>
          <p:nvPr/>
        </p:nvCxnSpPr>
        <p:spPr>
          <a:xfrm>
            <a:off x="23203777" y="13243379"/>
            <a:ext cx="1951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5" name="Conector recto 1204">
            <a:extLst>
              <a:ext uri="{FF2B5EF4-FFF2-40B4-BE49-F238E27FC236}">
                <a16:creationId xmlns:a16="http://schemas.microsoft.com/office/drawing/2014/main" id="{1B19737A-47E1-BCA7-5AA9-293881ACFF59}"/>
              </a:ext>
            </a:extLst>
          </p:cNvPr>
          <p:cNvCxnSpPr>
            <a:cxnSpLocks/>
            <a:stCxn id="1183" idx="0"/>
            <a:endCxn id="1181" idx="2"/>
          </p:cNvCxnSpPr>
          <p:nvPr/>
        </p:nvCxnSpPr>
        <p:spPr>
          <a:xfrm flipH="1" flipV="1">
            <a:off x="21982774" y="11656200"/>
            <a:ext cx="2687" cy="2613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8" name="Conector recto 1207">
            <a:extLst>
              <a:ext uri="{FF2B5EF4-FFF2-40B4-BE49-F238E27FC236}">
                <a16:creationId xmlns:a16="http://schemas.microsoft.com/office/drawing/2014/main" id="{86476E82-1906-D1B4-AAFF-C67882E98F4D}"/>
              </a:ext>
            </a:extLst>
          </p:cNvPr>
          <p:cNvCxnSpPr>
            <a:cxnSpLocks/>
          </p:cNvCxnSpPr>
          <p:nvPr/>
        </p:nvCxnSpPr>
        <p:spPr>
          <a:xfrm flipH="1" flipV="1">
            <a:off x="21982774" y="12876882"/>
            <a:ext cx="2687" cy="2994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9" name="Conector recto 1208">
            <a:extLst>
              <a:ext uri="{FF2B5EF4-FFF2-40B4-BE49-F238E27FC236}">
                <a16:creationId xmlns:a16="http://schemas.microsoft.com/office/drawing/2014/main" id="{C427B578-B9B2-5E65-D898-FA9867CD4430}"/>
              </a:ext>
            </a:extLst>
          </p:cNvPr>
          <p:cNvCxnSpPr>
            <a:cxnSpLocks/>
          </p:cNvCxnSpPr>
          <p:nvPr/>
        </p:nvCxnSpPr>
        <p:spPr>
          <a:xfrm flipH="1" flipV="1">
            <a:off x="21982774" y="13463132"/>
            <a:ext cx="2687" cy="2994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2" name="Rectángulo: esquinas redondeadas 1211">
            <a:extLst>
              <a:ext uri="{FF2B5EF4-FFF2-40B4-BE49-F238E27FC236}">
                <a16:creationId xmlns:a16="http://schemas.microsoft.com/office/drawing/2014/main" id="{10071788-042C-95FA-97FB-9E0BF565BF3C}"/>
              </a:ext>
            </a:extLst>
          </p:cNvPr>
          <p:cNvSpPr/>
          <p:nvPr/>
        </p:nvSpPr>
        <p:spPr>
          <a:xfrm>
            <a:off x="24896561" y="10915987"/>
            <a:ext cx="2427490" cy="40093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dirty="0">
                <a:solidFill>
                  <a:schemeClr val="tx1"/>
                </a:solidFill>
              </a:rPr>
              <a:t>¿Tenemos en una lista toda la información que necesitamos?</a:t>
            </a:r>
          </a:p>
        </p:txBody>
      </p:sp>
      <p:sp>
        <p:nvSpPr>
          <p:cNvPr id="1213" name="Rectángulo: esquinas redondeadas 1212">
            <a:extLst>
              <a:ext uri="{FF2B5EF4-FFF2-40B4-BE49-F238E27FC236}">
                <a16:creationId xmlns:a16="http://schemas.microsoft.com/office/drawing/2014/main" id="{89E4BC0D-1897-D345-E450-FB653088BD5A}"/>
              </a:ext>
            </a:extLst>
          </p:cNvPr>
          <p:cNvSpPr/>
          <p:nvPr/>
        </p:nvSpPr>
        <p:spPr>
          <a:xfrm>
            <a:off x="24883861" y="11532344"/>
            <a:ext cx="2427490" cy="40093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dirty="0">
                <a:solidFill>
                  <a:schemeClr val="tx1"/>
                </a:solidFill>
              </a:rPr>
              <a:t>¿Se han seguido los procesos?</a:t>
            </a:r>
          </a:p>
        </p:txBody>
      </p:sp>
      <p:sp>
        <p:nvSpPr>
          <p:cNvPr id="1215" name="Rectángulo: esquinas redondeadas 1214">
            <a:extLst>
              <a:ext uri="{FF2B5EF4-FFF2-40B4-BE49-F238E27FC236}">
                <a16:creationId xmlns:a16="http://schemas.microsoft.com/office/drawing/2014/main" id="{6DBCA7C5-6345-00C8-577D-A00A51F7705A}"/>
              </a:ext>
            </a:extLst>
          </p:cNvPr>
          <p:cNvSpPr/>
          <p:nvPr/>
        </p:nvSpPr>
        <p:spPr>
          <a:xfrm>
            <a:off x="24909261" y="12184787"/>
            <a:ext cx="2427490" cy="5667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dirty="0">
                <a:solidFill>
                  <a:schemeClr val="tx1"/>
                </a:solidFill>
              </a:rPr>
              <a:t>¿Las métricas, rangos, tiempos, procesos, etc., se encuentran dentro de las tolerancias planeadas?</a:t>
            </a:r>
          </a:p>
        </p:txBody>
      </p:sp>
      <p:sp>
        <p:nvSpPr>
          <p:cNvPr id="1216" name="Rectángulo: esquinas redondeadas 1215">
            <a:extLst>
              <a:ext uri="{FF2B5EF4-FFF2-40B4-BE49-F238E27FC236}">
                <a16:creationId xmlns:a16="http://schemas.microsoft.com/office/drawing/2014/main" id="{1181BA60-078E-7531-6F8C-116D25A3855F}"/>
              </a:ext>
            </a:extLst>
          </p:cNvPr>
          <p:cNvSpPr/>
          <p:nvPr/>
        </p:nvSpPr>
        <p:spPr>
          <a:xfrm>
            <a:off x="24934661" y="13000570"/>
            <a:ext cx="2427490" cy="40093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dirty="0">
                <a:solidFill>
                  <a:schemeClr val="tx1"/>
                </a:solidFill>
              </a:rPr>
              <a:t>¿Se ha diligenciado el formato de manera correcta?</a:t>
            </a:r>
          </a:p>
        </p:txBody>
      </p:sp>
      <p:sp>
        <p:nvSpPr>
          <p:cNvPr id="1217" name="Rectángulo: esquinas redondeadas 1216">
            <a:extLst>
              <a:ext uri="{FF2B5EF4-FFF2-40B4-BE49-F238E27FC236}">
                <a16:creationId xmlns:a16="http://schemas.microsoft.com/office/drawing/2014/main" id="{350F4F4C-08DE-A3DD-1E21-D9B1217872E1}"/>
              </a:ext>
            </a:extLst>
          </p:cNvPr>
          <p:cNvSpPr/>
          <p:nvPr/>
        </p:nvSpPr>
        <p:spPr>
          <a:xfrm>
            <a:off x="24947361" y="13635125"/>
            <a:ext cx="2427490" cy="40093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CO" sz="1000" dirty="0">
                <a:solidFill>
                  <a:schemeClr val="tx1"/>
                </a:solidFill>
              </a:rPr>
              <a:t>¿Hay observaciones que realizar?</a:t>
            </a: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1219" name="Rectángulo: esquinas redondeadas 1218">
            <a:extLst>
              <a:ext uri="{FF2B5EF4-FFF2-40B4-BE49-F238E27FC236}">
                <a16:creationId xmlns:a16="http://schemas.microsoft.com/office/drawing/2014/main" id="{923AAE92-6777-F6A4-9D26-B72DB3CAA746}"/>
              </a:ext>
            </a:extLst>
          </p:cNvPr>
          <p:cNvSpPr/>
          <p:nvPr/>
        </p:nvSpPr>
        <p:spPr>
          <a:xfrm>
            <a:off x="24947361" y="14256219"/>
            <a:ext cx="2427490" cy="40093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dirty="0">
                <a:solidFill>
                  <a:schemeClr val="tx1"/>
                </a:solidFill>
              </a:rPr>
              <a:t>¿Hubo acceso a toda la información que se necesitaba?</a:t>
            </a:r>
          </a:p>
        </p:txBody>
      </p:sp>
      <p:sp>
        <p:nvSpPr>
          <p:cNvPr id="1220" name="Rectángulo: esquinas redondeadas 1219">
            <a:extLst>
              <a:ext uri="{FF2B5EF4-FFF2-40B4-BE49-F238E27FC236}">
                <a16:creationId xmlns:a16="http://schemas.microsoft.com/office/drawing/2014/main" id="{5CD335C8-768A-5505-228B-252FD42D4109}"/>
              </a:ext>
            </a:extLst>
          </p:cNvPr>
          <p:cNvSpPr/>
          <p:nvPr/>
        </p:nvSpPr>
        <p:spPr>
          <a:xfrm>
            <a:off x="24972761" y="14884962"/>
            <a:ext cx="2427490" cy="40093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dirty="0">
                <a:solidFill>
                  <a:schemeClr val="tx1"/>
                </a:solidFill>
              </a:rPr>
              <a:t>¿El o los productos cumplen con las especificaciones?</a:t>
            </a:r>
          </a:p>
        </p:txBody>
      </p:sp>
      <p:sp>
        <p:nvSpPr>
          <p:cNvPr id="1221" name="Rectángulo: esquinas redondeadas 1220">
            <a:extLst>
              <a:ext uri="{FF2B5EF4-FFF2-40B4-BE49-F238E27FC236}">
                <a16:creationId xmlns:a16="http://schemas.microsoft.com/office/drawing/2014/main" id="{42B51AED-4B28-6084-E1E5-5D9FD5F0C220}"/>
              </a:ext>
            </a:extLst>
          </p:cNvPr>
          <p:cNvSpPr/>
          <p:nvPr/>
        </p:nvSpPr>
        <p:spPr>
          <a:xfrm>
            <a:off x="24998161" y="15546793"/>
            <a:ext cx="2427490" cy="40093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dirty="0">
                <a:solidFill>
                  <a:schemeClr val="tx1"/>
                </a:solidFill>
              </a:rPr>
              <a:t>¿El producto final es conforme?</a:t>
            </a:r>
          </a:p>
        </p:txBody>
      </p:sp>
      <p:cxnSp>
        <p:nvCxnSpPr>
          <p:cNvPr id="1222" name="Conector recto de flecha 1221">
            <a:extLst>
              <a:ext uri="{FF2B5EF4-FFF2-40B4-BE49-F238E27FC236}">
                <a16:creationId xmlns:a16="http://schemas.microsoft.com/office/drawing/2014/main" id="{1B859BE5-64AB-C33A-19A8-904FE02D9CD5}"/>
              </a:ext>
            </a:extLst>
          </p:cNvPr>
          <p:cNvCxnSpPr>
            <a:cxnSpLocks/>
            <a:endCxn id="1184" idx="0"/>
          </p:cNvCxnSpPr>
          <p:nvPr/>
        </p:nvCxnSpPr>
        <p:spPr>
          <a:xfrm>
            <a:off x="21985460" y="12247055"/>
            <a:ext cx="0" cy="3407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4" name="Conector recto de flecha 1223">
            <a:extLst>
              <a:ext uri="{FF2B5EF4-FFF2-40B4-BE49-F238E27FC236}">
                <a16:creationId xmlns:a16="http://schemas.microsoft.com/office/drawing/2014/main" id="{CAD25F10-0E23-8B45-88F3-2D70DD7F5990}"/>
              </a:ext>
            </a:extLst>
          </p:cNvPr>
          <p:cNvCxnSpPr>
            <a:cxnSpLocks/>
            <a:endCxn id="1212" idx="1"/>
          </p:cNvCxnSpPr>
          <p:nvPr/>
        </p:nvCxnSpPr>
        <p:spPr>
          <a:xfrm flipV="1">
            <a:off x="24041977" y="11116454"/>
            <a:ext cx="854584" cy="1424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ector recto de flecha 1226">
            <a:extLst>
              <a:ext uri="{FF2B5EF4-FFF2-40B4-BE49-F238E27FC236}">
                <a16:creationId xmlns:a16="http://schemas.microsoft.com/office/drawing/2014/main" id="{FE067893-927E-E673-1FA8-DA859D7CCE6A}"/>
              </a:ext>
            </a:extLst>
          </p:cNvPr>
          <p:cNvCxnSpPr>
            <a:cxnSpLocks/>
            <a:endCxn id="1213" idx="1"/>
          </p:cNvCxnSpPr>
          <p:nvPr/>
        </p:nvCxnSpPr>
        <p:spPr>
          <a:xfrm flipV="1">
            <a:off x="24194377" y="11732812"/>
            <a:ext cx="689484" cy="960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9" name="Conector recto de flecha 1228">
            <a:extLst>
              <a:ext uri="{FF2B5EF4-FFF2-40B4-BE49-F238E27FC236}">
                <a16:creationId xmlns:a16="http://schemas.microsoft.com/office/drawing/2014/main" id="{791372C8-9CCD-7D18-B4F8-130D616DC7D5}"/>
              </a:ext>
            </a:extLst>
          </p:cNvPr>
          <p:cNvCxnSpPr>
            <a:cxnSpLocks/>
            <a:endCxn id="1215" idx="1"/>
          </p:cNvCxnSpPr>
          <p:nvPr/>
        </p:nvCxnSpPr>
        <p:spPr>
          <a:xfrm flipV="1">
            <a:off x="24346777" y="12468160"/>
            <a:ext cx="562484" cy="377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1" name="Conector recto de flecha 1230">
            <a:extLst>
              <a:ext uri="{FF2B5EF4-FFF2-40B4-BE49-F238E27FC236}">
                <a16:creationId xmlns:a16="http://schemas.microsoft.com/office/drawing/2014/main" id="{3F04BE24-0F83-1B6B-C589-827988C69307}"/>
              </a:ext>
            </a:extLst>
          </p:cNvPr>
          <p:cNvCxnSpPr>
            <a:cxnSpLocks/>
            <a:endCxn id="1216" idx="1"/>
          </p:cNvCxnSpPr>
          <p:nvPr/>
        </p:nvCxnSpPr>
        <p:spPr>
          <a:xfrm flipV="1">
            <a:off x="24600777" y="13201037"/>
            <a:ext cx="333884" cy="20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4" name="Conector recto de flecha 1233">
            <a:extLst>
              <a:ext uri="{FF2B5EF4-FFF2-40B4-BE49-F238E27FC236}">
                <a16:creationId xmlns:a16="http://schemas.microsoft.com/office/drawing/2014/main" id="{759C6413-CFC7-7DE6-8EE5-019A8CDC62A6}"/>
              </a:ext>
            </a:extLst>
          </p:cNvPr>
          <p:cNvCxnSpPr>
            <a:cxnSpLocks/>
            <a:endCxn id="1217" idx="1"/>
          </p:cNvCxnSpPr>
          <p:nvPr/>
        </p:nvCxnSpPr>
        <p:spPr>
          <a:xfrm>
            <a:off x="24461077" y="13584270"/>
            <a:ext cx="486284" cy="25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7" name="Conector recto de flecha 1236">
            <a:extLst>
              <a:ext uri="{FF2B5EF4-FFF2-40B4-BE49-F238E27FC236}">
                <a16:creationId xmlns:a16="http://schemas.microsoft.com/office/drawing/2014/main" id="{256A15A0-7824-3F65-62EE-C0CE8429FF66}"/>
              </a:ext>
            </a:extLst>
          </p:cNvPr>
          <p:cNvCxnSpPr>
            <a:cxnSpLocks/>
            <a:endCxn id="1219" idx="1"/>
          </p:cNvCxnSpPr>
          <p:nvPr/>
        </p:nvCxnSpPr>
        <p:spPr>
          <a:xfrm>
            <a:off x="24359477" y="13773058"/>
            <a:ext cx="587884" cy="683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0" name="Conector recto de flecha 1239">
            <a:extLst>
              <a:ext uri="{FF2B5EF4-FFF2-40B4-BE49-F238E27FC236}">
                <a16:creationId xmlns:a16="http://schemas.microsoft.com/office/drawing/2014/main" id="{3DE5A1D0-C589-F97B-B44C-83A9C6BFC842}"/>
              </a:ext>
            </a:extLst>
          </p:cNvPr>
          <p:cNvCxnSpPr>
            <a:cxnSpLocks/>
            <a:endCxn id="1220" idx="1"/>
          </p:cNvCxnSpPr>
          <p:nvPr/>
        </p:nvCxnSpPr>
        <p:spPr>
          <a:xfrm>
            <a:off x="24207077" y="13883855"/>
            <a:ext cx="765684" cy="1201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Conector recto de flecha 1242">
            <a:extLst>
              <a:ext uri="{FF2B5EF4-FFF2-40B4-BE49-F238E27FC236}">
                <a16:creationId xmlns:a16="http://schemas.microsoft.com/office/drawing/2014/main" id="{1EE77844-D585-D964-1F55-29D2CFBDA6F9}"/>
              </a:ext>
            </a:extLst>
          </p:cNvPr>
          <p:cNvCxnSpPr>
            <a:cxnSpLocks/>
            <a:endCxn id="1221" idx="1"/>
          </p:cNvCxnSpPr>
          <p:nvPr/>
        </p:nvCxnSpPr>
        <p:spPr>
          <a:xfrm>
            <a:off x="24041977" y="13994652"/>
            <a:ext cx="956184" cy="1752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9" name="Conector recto de flecha 1248">
            <a:extLst>
              <a:ext uri="{FF2B5EF4-FFF2-40B4-BE49-F238E27FC236}">
                <a16:creationId xmlns:a16="http://schemas.microsoft.com/office/drawing/2014/main" id="{ECAE8CF1-E34D-2044-5DD5-87AE53286EF2}"/>
              </a:ext>
            </a:extLst>
          </p:cNvPr>
          <p:cNvCxnSpPr>
            <a:cxnSpLocks/>
            <a:endCxn id="1251" idx="0"/>
          </p:cNvCxnSpPr>
          <p:nvPr/>
        </p:nvCxnSpPr>
        <p:spPr>
          <a:xfrm>
            <a:off x="21985460" y="14052317"/>
            <a:ext cx="0" cy="748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1" name="CuadroTexto 1250">
            <a:extLst>
              <a:ext uri="{FF2B5EF4-FFF2-40B4-BE49-F238E27FC236}">
                <a16:creationId xmlns:a16="http://schemas.microsoft.com/office/drawing/2014/main" id="{58932BEC-C02B-DB0B-D0EB-2DC75BB3CAC5}"/>
              </a:ext>
            </a:extLst>
          </p:cNvPr>
          <p:cNvSpPr txBox="1"/>
          <p:nvPr/>
        </p:nvSpPr>
        <p:spPr>
          <a:xfrm>
            <a:off x="21282832" y="14801123"/>
            <a:ext cx="1405257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" b="1" dirty="0"/>
              <a:t>L lista de chequeo debe contener lo siguiente:</a:t>
            </a:r>
          </a:p>
          <a:p>
            <a:pPr algn="ctr"/>
            <a:endParaRPr lang="es-CO" sz="960" b="1" dirty="0"/>
          </a:p>
        </p:txBody>
      </p:sp>
      <p:cxnSp>
        <p:nvCxnSpPr>
          <p:cNvPr id="1252" name="Conector recto de flecha 1251">
            <a:extLst>
              <a:ext uri="{FF2B5EF4-FFF2-40B4-BE49-F238E27FC236}">
                <a16:creationId xmlns:a16="http://schemas.microsoft.com/office/drawing/2014/main" id="{FBF6A68A-5FF0-C943-4454-195F42FD451D}"/>
              </a:ext>
            </a:extLst>
          </p:cNvPr>
          <p:cNvCxnSpPr>
            <a:cxnSpLocks/>
          </p:cNvCxnSpPr>
          <p:nvPr/>
        </p:nvCxnSpPr>
        <p:spPr>
          <a:xfrm>
            <a:off x="21985460" y="15335250"/>
            <a:ext cx="0" cy="990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Conector recto de flecha 1252">
            <a:extLst>
              <a:ext uri="{FF2B5EF4-FFF2-40B4-BE49-F238E27FC236}">
                <a16:creationId xmlns:a16="http://schemas.microsoft.com/office/drawing/2014/main" id="{1FE4206F-79A7-5C16-E470-CBBEDE437538}"/>
              </a:ext>
            </a:extLst>
          </p:cNvPr>
          <p:cNvCxnSpPr>
            <a:cxnSpLocks/>
            <a:stCxn id="109" idx="2"/>
          </p:cNvCxnSpPr>
          <p:nvPr/>
        </p:nvCxnSpPr>
        <p:spPr>
          <a:xfrm>
            <a:off x="28093130" y="3583559"/>
            <a:ext cx="11933897" cy="20287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7" name="Conector recto de flecha 1256">
            <a:extLst>
              <a:ext uri="{FF2B5EF4-FFF2-40B4-BE49-F238E27FC236}">
                <a16:creationId xmlns:a16="http://schemas.microsoft.com/office/drawing/2014/main" id="{D7AE20DF-CF4B-8C3C-17D5-59F0C40591E1}"/>
              </a:ext>
            </a:extLst>
          </p:cNvPr>
          <p:cNvCxnSpPr>
            <a:cxnSpLocks/>
          </p:cNvCxnSpPr>
          <p:nvPr/>
        </p:nvCxnSpPr>
        <p:spPr>
          <a:xfrm flipH="1">
            <a:off x="28093130" y="8507026"/>
            <a:ext cx="3854" cy="388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1" name="Conector recto de flecha 1260">
            <a:extLst>
              <a:ext uri="{FF2B5EF4-FFF2-40B4-BE49-F238E27FC236}">
                <a16:creationId xmlns:a16="http://schemas.microsoft.com/office/drawing/2014/main" id="{C4AB4CED-FE83-E17A-1A0A-049A0256E620}"/>
              </a:ext>
            </a:extLst>
          </p:cNvPr>
          <p:cNvCxnSpPr>
            <a:cxnSpLocks/>
            <a:stCxn id="1179" idx="1"/>
            <a:endCxn id="1181" idx="0"/>
          </p:cNvCxnSpPr>
          <p:nvPr/>
        </p:nvCxnSpPr>
        <p:spPr>
          <a:xfrm flipH="1">
            <a:off x="21982774" y="9064959"/>
            <a:ext cx="5403873" cy="607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4" name="Conector recto de flecha 1263">
            <a:extLst>
              <a:ext uri="{FF2B5EF4-FFF2-40B4-BE49-F238E27FC236}">
                <a16:creationId xmlns:a16="http://schemas.microsoft.com/office/drawing/2014/main" id="{63CC29D5-88A2-3D75-9FBF-5D260A6802A4}"/>
              </a:ext>
            </a:extLst>
          </p:cNvPr>
          <p:cNvCxnSpPr>
            <a:cxnSpLocks/>
            <a:stCxn id="1179" idx="3"/>
            <a:endCxn id="1182" idx="0"/>
          </p:cNvCxnSpPr>
          <p:nvPr/>
        </p:nvCxnSpPr>
        <p:spPr>
          <a:xfrm>
            <a:off x="28791904" y="9064959"/>
            <a:ext cx="3568257" cy="569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69" name="Imagen 1268">
            <a:extLst>
              <a:ext uri="{FF2B5EF4-FFF2-40B4-BE49-F238E27FC236}">
                <a16:creationId xmlns:a16="http://schemas.microsoft.com/office/drawing/2014/main" id="{97719001-DB71-CC19-8665-9EB92623C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2568" y="16245318"/>
            <a:ext cx="7082471" cy="2382416"/>
          </a:xfrm>
          <a:prstGeom prst="rect">
            <a:avLst/>
          </a:prstGeom>
        </p:spPr>
      </p:pic>
      <p:sp>
        <p:nvSpPr>
          <p:cNvPr id="1286" name="CuadroTexto 1285">
            <a:extLst>
              <a:ext uri="{FF2B5EF4-FFF2-40B4-BE49-F238E27FC236}">
                <a16:creationId xmlns:a16="http://schemas.microsoft.com/office/drawing/2014/main" id="{A4944741-4902-DFDD-BAFB-54087754547E}"/>
              </a:ext>
            </a:extLst>
          </p:cNvPr>
          <p:cNvSpPr txBox="1"/>
          <p:nvPr/>
        </p:nvSpPr>
        <p:spPr>
          <a:xfrm>
            <a:off x="31539011" y="11275536"/>
            <a:ext cx="1638032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" b="1" dirty="0"/>
              <a:t>La definición estándar de calidad en ISO 8402</a:t>
            </a:r>
          </a:p>
        </p:txBody>
      </p:sp>
      <p:sp>
        <p:nvSpPr>
          <p:cNvPr id="1287" name="Rectángulo: esquinas redondeadas 1286">
            <a:extLst>
              <a:ext uri="{FF2B5EF4-FFF2-40B4-BE49-F238E27FC236}">
                <a16:creationId xmlns:a16="http://schemas.microsoft.com/office/drawing/2014/main" id="{CB2CDC76-F93B-63C1-6DB6-FE4524916302}"/>
              </a:ext>
            </a:extLst>
          </p:cNvPr>
          <p:cNvSpPr/>
          <p:nvPr/>
        </p:nvSpPr>
        <p:spPr>
          <a:xfrm>
            <a:off x="30873353" y="12080798"/>
            <a:ext cx="2989943" cy="100617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dirty="0">
                <a:solidFill>
                  <a:schemeClr val="tx1"/>
                </a:solidFill>
              </a:rPr>
              <a:t>“La totalidad de rasgos y características de un producto, proceso o servicio que sostiene la habilidad de satisfacer estados o necesidades implícitas”</a:t>
            </a:r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1289" name="CuadroTexto 1288">
            <a:extLst>
              <a:ext uri="{FF2B5EF4-FFF2-40B4-BE49-F238E27FC236}">
                <a16:creationId xmlns:a16="http://schemas.microsoft.com/office/drawing/2014/main" id="{F9CB6599-2143-6720-CC1C-D56155C918FB}"/>
              </a:ext>
            </a:extLst>
          </p:cNvPr>
          <p:cNvSpPr txBox="1"/>
          <p:nvPr/>
        </p:nvSpPr>
        <p:spPr>
          <a:xfrm>
            <a:off x="31624736" y="13471652"/>
            <a:ext cx="140525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60" b="1" dirty="0"/>
              <a:t>Las mediciones evalúan los siguientes aspectos</a:t>
            </a:r>
          </a:p>
        </p:txBody>
      </p:sp>
      <p:sp>
        <p:nvSpPr>
          <p:cNvPr id="1291" name="Rectángulo: esquinas redondeadas 1290">
            <a:extLst>
              <a:ext uri="{FF2B5EF4-FFF2-40B4-BE49-F238E27FC236}">
                <a16:creationId xmlns:a16="http://schemas.microsoft.com/office/drawing/2014/main" id="{6C103914-5C04-817A-E43A-7914FF5A57B9}"/>
              </a:ext>
            </a:extLst>
          </p:cNvPr>
          <p:cNvSpPr/>
          <p:nvPr/>
        </p:nvSpPr>
        <p:spPr>
          <a:xfrm>
            <a:off x="29526416" y="14402726"/>
            <a:ext cx="897618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Requisitos</a:t>
            </a:r>
          </a:p>
        </p:txBody>
      </p:sp>
      <p:sp>
        <p:nvSpPr>
          <p:cNvPr id="1292" name="Rectángulo: esquinas redondeadas 1291">
            <a:extLst>
              <a:ext uri="{FF2B5EF4-FFF2-40B4-BE49-F238E27FC236}">
                <a16:creationId xmlns:a16="http://schemas.microsoft.com/office/drawing/2014/main" id="{6E5E8394-0F45-13BF-E78D-55DEDC4B595D}"/>
              </a:ext>
            </a:extLst>
          </p:cNvPr>
          <p:cNvSpPr/>
          <p:nvPr/>
        </p:nvSpPr>
        <p:spPr>
          <a:xfrm>
            <a:off x="30593216" y="14421049"/>
            <a:ext cx="897618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</a:t>
            </a:r>
          </a:p>
        </p:txBody>
      </p:sp>
      <p:sp>
        <p:nvSpPr>
          <p:cNvPr id="1293" name="Rectángulo: esquinas redondeadas 1292">
            <a:extLst>
              <a:ext uri="{FF2B5EF4-FFF2-40B4-BE49-F238E27FC236}">
                <a16:creationId xmlns:a16="http://schemas.microsoft.com/office/drawing/2014/main" id="{A0BCFC7E-3CBF-372E-3DB6-691675A9BF13}"/>
              </a:ext>
            </a:extLst>
          </p:cNvPr>
          <p:cNvSpPr/>
          <p:nvPr/>
        </p:nvSpPr>
        <p:spPr>
          <a:xfrm>
            <a:off x="31745741" y="14402726"/>
            <a:ext cx="1164602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Modelos de diseño</a:t>
            </a:r>
          </a:p>
        </p:txBody>
      </p:sp>
      <p:sp>
        <p:nvSpPr>
          <p:cNvPr id="1294" name="Rectángulo: esquinas redondeadas 1293">
            <a:extLst>
              <a:ext uri="{FF2B5EF4-FFF2-40B4-BE49-F238E27FC236}">
                <a16:creationId xmlns:a16="http://schemas.microsoft.com/office/drawing/2014/main" id="{B012AB71-A4E3-0785-4ABE-02F51FCD409A}"/>
              </a:ext>
            </a:extLst>
          </p:cNvPr>
          <p:cNvSpPr/>
          <p:nvPr/>
        </p:nvSpPr>
        <p:spPr>
          <a:xfrm>
            <a:off x="33184016" y="14374572"/>
            <a:ext cx="1164602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de fuente</a:t>
            </a:r>
          </a:p>
        </p:txBody>
      </p:sp>
      <p:sp>
        <p:nvSpPr>
          <p:cNvPr id="1295" name="Rectángulo: esquinas redondeadas 1294">
            <a:extLst>
              <a:ext uri="{FF2B5EF4-FFF2-40B4-BE49-F238E27FC236}">
                <a16:creationId xmlns:a16="http://schemas.microsoft.com/office/drawing/2014/main" id="{3A56B53B-12D5-4701-7756-DF494EC96FB6}"/>
              </a:ext>
            </a:extLst>
          </p:cNvPr>
          <p:cNvSpPr/>
          <p:nvPr/>
        </p:nvSpPr>
        <p:spPr>
          <a:xfrm>
            <a:off x="34496175" y="14374572"/>
            <a:ext cx="1164602" cy="22159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Casos o de prueba</a:t>
            </a:r>
          </a:p>
        </p:txBody>
      </p:sp>
      <p:cxnSp>
        <p:nvCxnSpPr>
          <p:cNvPr id="1296" name="Conector recto de flecha 1295">
            <a:extLst>
              <a:ext uri="{FF2B5EF4-FFF2-40B4-BE49-F238E27FC236}">
                <a16:creationId xmlns:a16="http://schemas.microsoft.com/office/drawing/2014/main" id="{DFF4E369-0553-1A20-A224-BE4D9B2B0E93}"/>
              </a:ext>
            </a:extLst>
          </p:cNvPr>
          <p:cNvCxnSpPr>
            <a:cxnSpLocks/>
            <a:endCxn id="1287" idx="0"/>
          </p:cNvCxnSpPr>
          <p:nvPr/>
        </p:nvCxnSpPr>
        <p:spPr>
          <a:xfrm>
            <a:off x="32368325" y="11656200"/>
            <a:ext cx="0" cy="424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Conector recto 1299">
            <a:extLst>
              <a:ext uri="{FF2B5EF4-FFF2-40B4-BE49-F238E27FC236}">
                <a16:creationId xmlns:a16="http://schemas.microsoft.com/office/drawing/2014/main" id="{2AB8C06E-64EF-BA27-0A53-74D9490ACC0B}"/>
              </a:ext>
            </a:extLst>
          </p:cNvPr>
          <p:cNvCxnSpPr>
            <a:stCxn id="1182" idx="2"/>
            <a:endCxn id="1286" idx="0"/>
          </p:cNvCxnSpPr>
          <p:nvPr/>
        </p:nvCxnSpPr>
        <p:spPr>
          <a:xfrm flipH="1">
            <a:off x="32358027" y="11019229"/>
            <a:ext cx="2134" cy="256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2" name="Conector recto 1301">
            <a:extLst>
              <a:ext uri="{FF2B5EF4-FFF2-40B4-BE49-F238E27FC236}">
                <a16:creationId xmlns:a16="http://schemas.microsoft.com/office/drawing/2014/main" id="{68CA7613-E32F-62E4-1593-B183EB81349B}"/>
              </a:ext>
            </a:extLst>
          </p:cNvPr>
          <p:cNvCxnSpPr>
            <a:cxnSpLocks/>
          </p:cNvCxnSpPr>
          <p:nvPr/>
        </p:nvCxnSpPr>
        <p:spPr>
          <a:xfrm>
            <a:off x="32341111" y="13073745"/>
            <a:ext cx="0" cy="3388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4" name="Conector recto de flecha 1303">
            <a:extLst>
              <a:ext uri="{FF2B5EF4-FFF2-40B4-BE49-F238E27FC236}">
                <a16:creationId xmlns:a16="http://schemas.microsoft.com/office/drawing/2014/main" id="{94B2DA64-60ED-7607-AB1D-49EF164C7E93}"/>
              </a:ext>
            </a:extLst>
          </p:cNvPr>
          <p:cNvCxnSpPr>
            <a:cxnSpLocks/>
          </p:cNvCxnSpPr>
          <p:nvPr/>
        </p:nvCxnSpPr>
        <p:spPr>
          <a:xfrm flipH="1">
            <a:off x="29956175" y="14015354"/>
            <a:ext cx="1373018" cy="368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7" name="Conector recto de flecha 1306">
            <a:extLst>
              <a:ext uri="{FF2B5EF4-FFF2-40B4-BE49-F238E27FC236}">
                <a16:creationId xmlns:a16="http://schemas.microsoft.com/office/drawing/2014/main" id="{BD500B37-7F10-C6CF-C15C-01C7055125D2}"/>
              </a:ext>
            </a:extLst>
          </p:cNvPr>
          <p:cNvCxnSpPr>
            <a:cxnSpLocks/>
          </p:cNvCxnSpPr>
          <p:nvPr/>
        </p:nvCxnSpPr>
        <p:spPr>
          <a:xfrm>
            <a:off x="33375600" y="13994651"/>
            <a:ext cx="1721926" cy="344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0" name="Conector recto de flecha 1309">
            <a:extLst>
              <a:ext uri="{FF2B5EF4-FFF2-40B4-BE49-F238E27FC236}">
                <a16:creationId xmlns:a16="http://schemas.microsoft.com/office/drawing/2014/main" id="{04A9DEB4-80C8-5EB7-CDEB-2296E91E041F}"/>
              </a:ext>
            </a:extLst>
          </p:cNvPr>
          <p:cNvCxnSpPr>
            <a:cxnSpLocks/>
            <a:endCxn id="1292" idx="0"/>
          </p:cNvCxnSpPr>
          <p:nvPr/>
        </p:nvCxnSpPr>
        <p:spPr>
          <a:xfrm flipH="1">
            <a:off x="31042025" y="14034404"/>
            <a:ext cx="630068" cy="386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3" name="Conector recto de flecha 1312">
            <a:extLst>
              <a:ext uri="{FF2B5EF4-FFF2-40B4-BE49-F238E27FC236}">
                <a16:creationId xmlns:a16="http://schemas.microsoft.com/office/drawing/2014/main" id="{09F62DB3-7F69-2936-87D7-6326FFCD22BE}"/>
              </a:ext>
            </a:extLst>
          </p:cNvPr>
          <p:cNvCxnSpPr>
            <a:cxnSpLocks/>
            <a:stCxn id="1289" idx="2"/>
          </p:cNvCxnSpPr>
          <p:nvPr/>
        </p:nvCxnSpPr>
        <p:spPr>
          <a:xfrm>
            <a:off x="32327365" y="14007183"/>
            <a:ext cx="0" cy="355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6" name="Conector recto de flecha 1315">
            <a:extLst>
              <a:ext uri="{FF2B5EF4-FFF2-40B4-BE49-F238E27FC236}">
                <a16:creationId xmlns:a16="http://schemas.microsoft.com/office/drawing/2014/main" id="{EDCD6EFF-ADD6-59F3-0F8B-D1681265D4B6}"/>
              </a:ext>
            </a:extLst>
          </p:cNvPr>
          <p:cNvCxnSpPr>
            <a:cxnSpLocks/>
            <a:endCxn id="1294" idx="0"/>
          </p:cNvCxnSpPr>
          <p:nvPr/>
        </p:nvCxnSpPr>
        <p:spPr>
          <a:xfrm>
            <a:off x="33004125" y="14006977"/>
            <a:ext cx="762192" cy="367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0" name="Conector recto de flecha 1319">
            <a:extLst>
              <a:ext uri="{FF2B5EF4-FFF2-40B4-BE49-F238E27FC236}">
                <a16:creationId xmlns:a16="http://schemas.microsoft.com/office/drawing/2014/main" id="{2C242D82-7B5B-22EC-1527-EBF5CABC1708}"/>
              </a:ext>
            </a:extLst>
          </p:cNvPr>
          <p:cNvCxnSpPr>
            <a:cxnSpLocks/>
          </p:cNvCxnSpPr>
          <p:nvPr/>
        </p:nvCxnSpPr>
        <p:spPr>
          <a:xfrm>
            <a:off x="32327365" y="14613142"/>
            <a:ext cx="0" cy="355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1" name="CuadroTexto 1320">
            <a:extLst>
              <a:ext uri="{FF2B5EF4-FFF2-40B4-BE49-F238E27FC236}">
                <a16:creationId xmlns:a16="http://schemas.microsoft.com/office/drawing/2014/main" id="{F98FE9AE-F384-1824-64F4-B9452A49ED22}"/>
              </a:ext>
            </a:extLst>
          </p:cNvPr>
          <p:cNvSpPr txBox="1"/>
          <p:nvPr/>
        </p:nvSpPr>
        <p:spPr>
          <a:xfrm>
            <a:off x="31634261" y="14985802"/>
            <a:ext cx="1405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/>
              <a:t>factores y la categorización de los factores en el desarrollo de:</a:t>
            </a:r>
            <a:endParaRPr lang="es-CO" sz="1000" b="1" dirty="0"/>
          </a:p>
        </p:txBody>
      </p:sp>
      <p:sp>
        <p:nvSpPr>
          <p:cNvPr id="1325" name="Rectángulo: esquinas redondeadas 1324">
            <a:extLst>
              <a:ext uri="{FF2B5EF4-FFF2-40B4-BE49-F238E27FC236}">
                <a16:creationId xmlns:a16="http://schemas.microsoft.com/office/drawing/2014/main" id="{FEAC83CB-40F9-E5B0-BB84-DC7D5AD31611}"/>
              </a:ext>
            </a:extLst>
          </p:cNvPr>
          <p:cNvSpPr/>
          <p:nvPr/>
        </p:nvSpPr>
        <p:spPr>
          <a:xfrm>
            <a:off x="28640344" y="16135549"/>
            <a:ext cx="1210859" cy="19982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Factores de calidad</a:t>
            </a:r>
          </a:p>
        </p:txBody>
      </p:sp>
      <p:sp>
        <p:nvSpPr>
          <p:cNvPr id="1326" name="Rectángulo: esquinas redondeadas 1325">
            <a:extLst>
              <a:ext uri="{FF2B5EF4-FFF2-40B4-BE49-F238E27FC236}">
                <a16:creationId xmlns:a16="http://schemas.microsoft.com/office/drawing/2014/main" id="{A11229A0-9C91-6981-D7AA-FA0BB92C54B7}"/>
              </a:ext>
            </a:extLst>
          </p:cNvPr>
          <p:cNvSpPr/>
          <p:nvPr/>
        </p:nvSpPr>
        <p:spPr>
          <a:xfrm>
            <a:off x="33537526" y="16049824"/>
            <a:ext cx="1508812" cy="21887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88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Categorización de factores</a:t>
            </a:r>
          </a:p>
        </p:txBody>
      </p:sp>
      <p:sp>
        <p:nvSpPr>
          <p:cNvPr id="1327" name="Rectángulo: esquinas redondeadas 1326">
            <a:extLst>
              <a:ext uri="{FF2B5EF4-FFF2-40B4-BE49-F238E27FC236}">
                <a16:creationId xmlns:a16="http://schemas.microsoft.com/office/drawing/2014/main" id="{FCD8CE63-3F3A-8600-E142-C819B80E4B91}"/>
              </a:ext>
            </a:extLst>
          </p:cNvPr>
          <p:cNvSpPr/>
          <p:nvPr/>
        </p:nvSpPr>
        <p:spPr>
          <a:xfrm>
            <a:off x="27408942" y="16810239"/>
            <a:ext cx="1775512" cy="82847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</a:rPr>
              <a:t>a* </a:t>
            </a:r>
            <a:r>
              <a:rPr lang="es-ES" sz="1000" dirty="0">
                <a:solidFill>
                  <a:schemeClr val="bg1"/>
                </a:solidFill>
              </a:rPr>
              <a:t>Factores que se miden directamente, cómo son los defectos por puntos de función.</a:t>
            </a:r>
            <a:endParaRPr lang="es-CO" sz="1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8" name="Rectángulo: esquinas redondeadas 1327">
            <a:extLst>
              <a:ext uri="{FF2B5EF4-FFF2-40B4-BE49-F238E27FC236}">
                <a16:creationId xmlns:a16="http://schemas.microsoft.com/office/drawing/2014/main" id="{352D2F39-E483-C8E1-39D9-0FEA156FB449}"/>
              </a:ext>
            </a:extLst>
          </p:cNvPr>
          <p:cNvSpPr/>
          <p:nvPr/>
        </p:nvSpPr>
        <p:spPr>
          <a:xfrm>
            <a:off x="29371092" y="16800714"/>
            <a:ext cx="1775512" cy="82847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00" dirty="0">
                <a:solidFill>
                  <a:schemeClr val="tx1"/>
                </a:solidFill>
              </a:rPr>
              <a:t>b* </a:t>
            </a:r>
            <a:r>
              <a:rPr lang="es-ES" sz="1000" dirty="0">
                <a:solidFill>
                  <a:schemeClr val="bg1"/>
                </a:solidFill>
              </a:rPr>
              <a:t>Factores que se miden indirectamente, cómo es la facilidad de uso o de mantenimiento.</a:t>
            </a:r>
            <a:endParaRPr lang="es-CO" sz="1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9" name="Rectángulo: esquinas redondeadas 1328">
            <a:extLst>
              <a:ext uri="{FF2B5EF4-FFF2-40B4-BE49-F238E27FC236}">
                <a16:creationId xmlns:a16="http://schemas.microsoft.com/office/drawing/2014/main" id="{72494A1C-B394-BAB8-E356-C74E6AF09608}"/>
              </a:ext>
            </a:extLst>
          </p:cNvPr>
          <p:cNvSpPr/>
          <p:nvPr/>
        </p:nvSpPr>
        <p:spPr>
          <a:xfrm>
            <a:off x="33537526" y="16773724"/>
            <a:ext cx="1508812" cy="21887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</a:rPr>
              <a:t>Capacidad de cambio.</a:t>
            </a:r>
            <a:endParaRPr lang="es-CO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0" name="Rectángulo: esquinas redondeadas 1329">
            <a:extLst>
              <a:ext uri="{FF2B5EF4-FFF2-40B4-BE49-F238E27FC236}">
                <a16:creationId xmlns:a16="http://schemas.microsoft.com/office/drawing/2014/main" id="{69D8B860-DB7C-1A99-DE60-598C9928CBC2}"/>
              </a:ext>
            </a:extLst>
          </p:cNvPr>
          <p:cNvSpPr/>
          <p:nvPr/>
        </p:nvSpPr>
        <p:spPr>
          <a:xfrm>
            <a:off x="31661100" y="16792774"/>
            <a:ext cx="1775513" cy="20935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</a:rPr>
              <a:t>Características operativas.</a:t>
            </a:r>
            <a:endParaRPr lang="es-CO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" name="Rectángulo: esquinas redondeadas 1330">
            <a:extLst>
              <a:ext uri="{FF2B5EF4-FFF2-40B4-BE49-F238E27FC236}">
                <a16:creationId xmlns:a16="http://schemas.microsoft.com/office/drawing/2014/main" id="{0CD9D84C-DB23-5120-3A7C-133EEF0125CB}"/>
              </a:ext>
            </a:extLst>
          </p:cNvPr>
          <p:cNvSpPr/>
          <p:nvPr/>
        </p:nvSpPr>
        <p:spPr>
          <a:xfrm>
            <a:off x="35166300" y="16764199"/>
            <a:ext cx="2152649" cy="20935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dirty="0">
                <a:solidFill>
                  <a:schemeClr val="tx1"/>
                </a:solidFill>
              </a:rPr>
              <a:t>Adaptabilidad a nuevos entornos.</a:t>
            </a:r>
            <a:endParaRPr lang="es-CO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2" name="Conector recto de flecha 1331">
            <a:extLst>
              <a:ext uri="{FF2B5EF4-FFF2-40B4-BE49-F238E27FC236}">
                <a16:creationId xmlns:a16="http://schemas.microsoft.com/office/drawing/2014/main" id="{F20D902C-21E7-CA37-2638-C013A384125D}"/>
              </a:ext>
            </a:extLst>
          </p:cNvPr>
          <p:cNvCxnSpPr>
            <a:cxnSpLocks/>
          </p:cNvCxnSpPr>
          <p:nvPr/>
        </p:nvCxnSpPr>
        <p:spPr>
          <a:xfrm flipH="1">
            <a:off x="29241265" y="15747261"/>
            <a:ext cx="2381735" cy="355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4" name="Conector recto de flecha 1333">
            <a:extLst>
              <a:ext uri="{FF2B5EF4-FFF2-40B4-BE49-F238E27FC236}">
                <a16:creationId xmlns:a16="http://schemas.microsoft.com/office/drawing/2014/main" id="{3807148B-C7A5-D9A7-D9C8-FA47901472F3}"/>
              </a:ext>
            </a:extLst>
          </p:cNvPr>
          <p:cNvCxnSpPr>
            <a:cxnSpLocks/>
          </p:cNvCxnSpPr>
          <p:nvPr/>
        </p:nvCxnSpPr>
        <p:spPr>
          <a:xfrm>
            <a:off x="33070800" y="15728211"/>
            <a:ext cx="1221132" cy="302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7" name="Conector recto de flecha 1336">
            <a:extLst>
              <a:ext uri="{FF2B5EF4-FFF2-40B4-BE49-F238E27FC236}">
                <a16:creationId xmlns:a16="http://schemas.microsoft.com/office/drawing/2014/main" id="{FFED9105-E11A-CE8A-08A6-FF9432272250}"/>
              </a:ext>
            </a:extLst>
          </p:cNvPr>
          <p:cNvCxnSpPr>
            <a:cxnSpLocks/>
            <a:stCxn id="1325" idx="2"/>
            <a:endCxn id="1327" idx="0"/>
          </p:cNvCxnSpPr>
          <p:nvPr/>
        </p:nvCxnSpPr>
        <p:spPr>
          <a:xfrm flipH="1">
            <a:off x="28296698" y="16335375"/>
            <a:ext cx="949076" cy="474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0" name="Conector recto de flecha 1339">
            <a:extLst>
              <a:ext uri="{FF2B5EF4-FFF2-40B4-BE49-F238E27FC236}">
                <a16:creationId xmlns:a16="http://schemas.microsoft.com/office/drawing/2014/main" id="{4447B0F2-363C-D107-B450-2CA1D4531E23}"/>
              </a:ext>
            </a:extLst>
          </p:cNvPr>
          <p:cNvCxnSpPr>
            <a:cxnSpLocks/>
            <a:stCxn id="1325" idx="2"/>
            <a:endCxn id="1328" idx="0"/>
          </p:cNvCxnSpPr>
          <p:nvPr/>
        </p:nvCxnSpPr>
        <p:spPr>
          <a:xfrm>
            <a:off x="29245774" y="16335375"/>
            <a:ext cx="1013074" cy="465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3" name="Conector recto de flecha 1342">
            <a:extLst>
              <a:ext uri="{FF2B5EF4-FFF2-40B4-BE49-F238E27FC236}">
                <a16:creationId xmlns:a16="http://schemas.microsoft.com/office/drawing/2014/main" id="{F9F3BE32-9781-5AE5-DB43-C182C1710F59}"/>
              </a:ext>
            </a:extLst>
          </p:cNvPr>
          <p:cNvCxnSpPr>
            <a:cxnSpLocks/>
            <a:endCxn id="1330" idx="0"/>
          </p:cNvCxnSpPr>
          <p:nvPr/>
        </p:nvCxnSpPr>
        <p:spPr>
          <a:xfrm flipH="1">
            <a:off x="32548857" y="16287750"/>
            <a:ext cx="998193" cy="505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6" name="Conector recto de flecha 1345">
            <a:extLst>
              <a:ext uri="{FF2B5EF4-FFF2-40B4-BE49-F238E27FC236}">
                <a16:creationId xmlns:a16="http://schemas.microsoft.com/office/drawing/2014/main" id="{116EE1C0-AEBC-D232-C840-655FA4E56328}"/>
              </a:ext>
            </a:extLst>
          </p:cNvPr>
          <p:cNvCxnSpPr>
            <a:cxnSpLocks/>
            <a:endCxn id="1331" idx="0"/>
          </p:cNvCxnSpPr>
          <p:nvPr/>
        </p:nvCxnSpPr>
        <p:spPr>
          <a:xfrm>
            <a:off x="35013900" y="16287750"/>
            <a:ext cx="1228725" cy="476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1" name="Conector recto de flecha 1350">
            <a:extLst>
              <a:ext uri="{FF2B5EF4-FFF2-40B4-BE49-F238E27FC236}">
                <a16:creationId xmlns:a16="http://schemas.microsoft.com/office/drawing/2014/main" id="{B3BCBFC4-8120-0E73-244E-B0650D54D373}"/>
              </a:ext>
            </a:extLst>
          </p:cNvPr>
          <p:cNvCxnSpPr>
            <a:cxnSpLocks/>
            <a:endCxn id="1329" idx="0"/>
          </p:cNvCxnSpPr>
          <p:nvPr/>
        </p:nvCxnSpPr>
        <p:spPr>
          <a:xfrm flipH="1">
            <a:off x="34291932" y="16270492"/>
            <a:ext cx="16633" cy="503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3" name="Conector recto de flecha 1352">
            <a:extLst>
              <a:ext uri="{FF2B5EF4-FFF2-40B4-BE49-F238E27FC236}">
                <a16:creationId xmlns:a16="http://schemas.microsoft.com/office/drawing/2014/main" id="{416E56DF-E948-2D1F-1A55-209401738A85}"/>
              </a:ext>
            </a:extLst>
          </p:cNvPr>
          <p:cNvCxnSpPr>
            <a:cxnSpLocks/>
            <a:stCxn id="1175" idx="2"/>
            <a:endCxn id="1177" idx="0"/>
          </p:cNvCxnSpPr>
          <p:nvPr/>
        </p:nvCxnSpPr>
        <p:spPr>
          <a:xfrm>
            <a:off x="28141581" y="6926287"/>
            <a:ext cx="0" cy="546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7" name="Conector recto de flecha 1356">
            <a:extLst>
              <a:ext uri="{FF2B5EF4-FFF2-40B4-BE49-F238E27FC236}">
                <a16:creationId xmlns:a16="http://schemas.microsoft.com/office/drawing/2014/main" id="{743B7A02-6C76-FE3D-5AD7-68D3069E9103}"/>
              </a:ext>
            </a:extLst>
          </p:cNvPr>
          <p:cNvCxnSpPr>
            <a:cxnSpLocks/>
            <a:endCxn id="1175" idx="0"/>
          </p:cNvCxnSpPr>
          <p:nvPr/>
        </p:nvCxnSpPr>
        <p:spPr>
          <a:xfrm>
            <a:off x="28141581" y="5759850"/>
            <a:ext cx="0" cy="519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9" name="Conector recto de flecha 1358">
            <a:extLst>
              <a:ext uri="{FF2B5EF4-FFF2-40B4-BE49-F238E27FC236}">
                <a16:creationId xmlns:a16="http://schemas.microsoft.com/office/drawing/2014/main" id="{558F4611-80C7-5963-C064-39F176C3676E}"/>
              </a:ext>
            </a:extLst>
          </p:cNvPr>
          <p:cNvCxnSpPr>
            <a:cxnSpLocks/>
          </p:cNvCxnSpPr>
          <p:nvPr/>
        </p:nvCxnSpPr>
        <p:spPr>
          <a:xfrm>
            <a:off x="28093130" y="3583559"/>
            <a:ext cx="0" cy="1687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2" name="CuadroTexto 1361">
            <a:extLst>
              <a:ext uri="{FF2B5EF4-FFF2-40B4-BE49-F238E27FC236}">
                <a16:creationId xmlns:a16="http://schemas.microsoft.com/office/drawing/2014/main" id="{4A8AFAAE-F57C-D41B-0095-58BE88F6ADA3}"/>
              </a:ext>
            </a:extLst>
          </p:cNvPr>
          <p:cNvSpPr txBox="1"/>
          <p:nvPr/>
        </p:nvSpPr>
        <p:spPr>
          <a:xfrm>
            <a:off x="37054971" y="9095557"/>
            <a:ext cx="50186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s-ES" sz="1000" b="1" dirty="0"/>
              <a:t>Para elaborar esta matriz, hay que tener como insumo fundamental los requisitos de </a:t>
            </a:r>
            <a:r>
              <a:rPr lang="es-ES" sz="1000" b="1" i="1" dirty="0"/>
              <a:t>software</a:t>
            </a:r>
            <a:r>
              <a:rPr lang="es-ES" sz="1000" b="1" dirty="0"/>
              <a:t>, entre ellos encontramos:</a:t>
            </a:r>
          </a:p>
        </p:txBody>
      </p:sp>
      <p:cxnSp>
        <p:nvCxnSpPr>
          <p:cNvPr id="1363" name="Conector recto de flecha 1362">
            <a:extLst>
              <a:ext uri="{FF2B5EF4-FFF2-40B4-BE49-F238E27FC236}">
                <a16:creationId xmlns:a16="http://schemas.microsoft.com/office/drawing/2014/main" id="{12ACC911-565B-139D-6FD6-DFF5CEBABC31}"/>
              </a:ext>
            </a:extLst>
          </p:cNvPr>
          <p:cNvCxnSpPr>
            <a:cxnSpLocks/>
          </p:cNvCxnSpPr>
          <p:nvPr/>
        </p:nvCxnSpPr>
        <p:spPr>
          <a:xfrm>
            <a:off x="39570022" y="9429835"/>
            <a:ext cx="0" cy="424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4" name="Conector recto 1363">
            <a:extLst>
              <a:ext uri="{FF2B5EF4-FFF2-40B4-BE49-F238E27FC236}">
                <a16:creationId xmlns:a16="http://schemas.microsoft.com/office/drawing/2014/main" id="{E04A5CA6-15CC-D025-44A4-2D927FE8BE5A}"/>
              </a:ext>
            </a:extLst>
          </p:cNvPr>
          <p:cNvCxnSpPr>
            <a:cxnSpLocks/>
            <a:endCxn id="1362" idx="0"/>
          </p:cNvCxnSpPr>
          <p:nvPr/>
        </p:nvCxnSpPr>
        <p:spPr>
          <a:xfrm>
            <a:off x="39561858" y="8839250"/>
            <a:ext cx="2416" cy="256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7" name="Rectángulo: esquinas redondeadas 1366">
            <a:extLst>
              <a:ext uri="{FF2B5EF4-FFF2-40B4-BE49-F238E27FC236}">
                <a16:creationId xmlns:a16="http://schemas.microsoft.com/office/drawing/2014/main" id="{F5DDED53-27A4-0FB1-87B4-10EE7995113C}"/>
              </a:ext>
            </a:extLst>
          </p:cNvPr>
          <p:cNvSpPr/>
          <p:nvPr/>
        </p:nvSpPr>
        <p:spPr>
          <a:xfrm>
            <a:off x="36721143" y="9919350"/>
            <a:ext cx="5704108" cy="57646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b="1" dirty="0">
                <a:solidFill>
                  <a:schemeClr val="tx1"/>
                </a:solidFill>
              </a:rPr>
              <a:t>Requisitos de negocio</a:t>
            </a:r>
          </a:p>
          <a:p>
            <a:pPr algn="ctr" fontAlgn="base"/>
            <a:r>
              <a:rPr lang="es-ES" sz="1000" b="1" dirty="0">
                <a:solidFill>
                  <a:schemeClr val="bg1"/>
                </a:solidFill>
              </a:rPr>
              <a:t>Están asociados a objetivos de negocio y del proyecto.</a:t>
            </a:r>
          </a:p>
        </p:txBody>
      </p:sp>
      <p:cxnSp>
        <p:nvCxnSpPr>
          <p:cNvPr id="1368" name="Conector recto de flecha 1367">
            <a:extLst>
              <a:ext uri="{FF2B5EF4-FFF2-40B4-BE49-F238E27FC236}">
                <a16:creationId xmlns:a16="http://schemas.microsoft.com/office/drawing/2014/main" id="{FDFF3775-CE13-3919-9784-CF4081871A28}"/>
              </a:ext>
            </a:extLst>
          </p:cNvPr>
          <p:cNvCxnSpPr>
            <a:cxnSpLocks/>
          </p:cNvCxnSpPr>
          <p:nvPr/>
        </p:nvCxnSpPr>
        <p:spPr>
          <a:xfrm>
            <a:off x="39570026" y="10501549"/>
            <a:ext cx="0" cy="424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9" name="Rectángulo: esquinas redondeadas 1368">
            <a:extLst>
              <a:ext uri="{FF2B5EF4-FFF2-40B4-BE49-F238E27FC236}">
                <a16:creationId xmlns:a16="http://schemas.microsoft.com/office/drawing/2014/main" id="{E4A7A521-DA64-0439-6938-A50A92C31DB5}"/>
              </a:ext>
            </a:extLst>
          </p:cNvPr>
          <p:cNvSpPr/>
          <p:nvPr/>
        </p:nvSpPr>
        <p:spPr>
          <a:xfrm>
            <a:off x="36721147" y="10944678"/>
            <a:ext cx="5704108" cy="57646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b="1" dirty="0">
                <a:solidFill>
                  <a:schemeClr val="tx1"/>
                </a:solidFill>
              </a:rPr>
              <a:t>Requisitos de los interesados </a:t>
            </a:r>
            <a:r>
              <a:rPr lang="es-ES" sz="1000" b="1" i="1" dirty="0">
                <a:solidFill>
                  <a:schemeClr val="tx1"/>
                </a:solidFill>
              </a:rPr>
              <a:t>stakeholders</a:t>
            </a:r>
            <a:endParaRPr lang="es-ES" sz="1000" b="1" dirty="0">
              <a:solidFill>
                <a:schemeClr val="tx1"/>
              </a:solidFill>
            </a:endParaRPr>
          </a:p>
          <a:p>
            <a:pPr algn="ctr" fontAlgn="base"/>
            <a:r>
              <a:rPr lang="es-ES" sz="1000" dirty="0"/>
              <a:t>Pueden ser puntuales, impactando sobre otras áreas de la organización.</a:t>
            </a:r>
            <a:endParaRPr lang="es-ES" sz="1000" b="1" dirty="0">
              <a:solidFill>
                <a:schemeClr val="bg1"/>
              </a:solidFill>
            </a:endParaRPr>
          </a:p>
        </p:txBody>
      </p:sp>
      <p:cxnSp>
        <p:nvCxnSpPr>
          <p:cNvPr id="1372" name="Conector recto de flecha 1371">
            <a:extLst>
              <a:ext uri="{FF2B5EF4-FFF2-40B4-BE49-F238E27FC236}">
                <a16:creationId xmlns:a16="http://schemas.microsoft.com/office/drawing/2014/main" id="{DDCAAD16-CB5B-FDE6-F40B-85544D7263F2}"/>
              </a:ext>
            </a:extLst>
          </p:cNvPr>
          <p:cNvCxnSpPr>
            <a:cxnSpLocks/>
          </p:cNvCxnSpPr>
          <p:nvPr/>
        </p:nvCxnSpPr>
        <p:spPr>
          <a:xfrm>
            <a:off x="39570026" y="11521335"/>
            <a:ext cx="0" cy="424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3" name="Rectángulo: esquinas redondeadas 1372">
            <a:extLst>
              <a:ext uri="{FF2B5EF4-FFF2-40B4-BE49-F238E27FC236}">
                <a16:creationId xmlns:a16="http://schemas.microsoft.com/office/drawing/2014/main" id="{31C686D1-6C6C-A6F2-13E1-85C7E6B2EB49}"/>
              </a:ext>
            </a:extLst>
          </p:cNvPr>
          <p:cNvSpPr/>
          <p:nvPr/>
        </p:nvSpPr>
        <p:spPr>
          <a:xfrm>
            <a:off x="36721147" y="11964464"/>
            <a:ext cx="5704108" cy="57646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b="1" dirty="0">
                <a:solidFill>
                  <a:schemeClr val="tx1"/>
                </a:solidFill>
              </a:rPr>
              <a:t>Requisitos de soluciones</a:t>
            </a:r>
          </a:p>
          <a:p>
            <a:pPr algn="ctr" fontAlgn="base"/>
            <a:r>
              <a:rPr lang="es-ES" sz="1000" dirty="0">
                <a:solidFill>
                  <a:schemeClr val="bg1"/>
                </a:solidFill>
              </a:rPr>
              <a:t>Pueden ser funcionales o no funcionales, tecnológicos, de cumplimiento de estándares, de apoyo y capacitación, de calidad o de presentación de informes.</a:t>
            </a:r>
            <a:endParaRPr lang="es-ES" sz="1000" b="1" dirty="0">
              <a:solidFill>
                <a:schemeClr val="bg1"/>
              </a:solidFill>
            </a:endParaRPr>
          </a:p>
        </p:txBody>
      </p:sp>
      <p:cxnSp>
        <p:nvCxnSpPr>
          <p:cNvPr id="1374" name="Conector recto de flecha 1373">
            <a:extLst>
              <a:ext uri="{FF2B5EF4-FFF2-40B4-BE49-F238E27FC236}">
                <a16:creationId xmlns:a16="http://schemas.microsoft.com/office/drawing/2014/main" id="{7312566A-3562-E2DF-20B0-6F7B10F04D46}"/>
              </a:ext>
            </a:extLst>
          </p:cNvPr>
          <p:cNvCxnSpPr>
            <a:cxnSpLocks/>
          </p:cNvCxnSpPr>
          <p:nvPr/>
        </p:nvCxnSpPr>
        <p:spPr>
          <a:xfrm>
            <a:off x="39570026" y="12543858"/>
            <a:ext cx="0" cy="424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5" name="Rectángulo: esquinas redondeadas 1374">
            <a:extLst>
              <a:ext uri="{FF2B5EF4-FFF2-40B4-BE49-F238E27FC236}">
                <a16:creationId xmlns:a16="http://schemas.microsoft.com/office/drawing/2014/main" id="{5DC48027-417D-2B83-99AE-32D791ACAFC6}"/>
              </a:ext>
            </a:extLst>
          </p:cNvPr>
          <p:cNvSpPr/>
          <p:nvPr/>
        </p:nvSpPr>
        <p:spPr>
          <a:xfrm>
            <a:off x="36721147" y="12986987"/>
            <a:ext cx="5704108" cy="576464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b="1" dirty="0">
                <a:solidFill>
                  <a:schemeClr val="tx1"/>
                </a:solidFill>
              </a:rPr>
              <a:t>Requisitos de transición</a:t>
            </a:r>
          </a:p>
          <a:p>
            <a:pPr algn="ctr" fontAlgn="base"/>
            <a:r>
              <a:rPr lang="es-ES" sz="1000" dirty="0"/>
              <a:t>Representan la transferencia del producto a la parte operativa, es decir, se trata de informar y proveer del material necesario al personal que tenga que trabajar el producto final.</a:t>
            </a:r>
            <a:endParaRPr lang="es-ES" sz="1000" b="1" dirty="0">
              <a:solidFill>
                <a:schemeClr val="bg1"/>
              </a:solidFill>
            </a:endParaRPr>
          </a:p>
        </p:txBody>
      </p:sp>
      <p:cxnSp>
        <p:nvCxnSpPr>
          <p:cNvPr id="1376" name="Conector recto de flecha 1375">
            <a:extLst>
              <a:ext uri="{FF2B5EF4-FFF2-40B4-BE49-F238E27FC236}">
                <a16:creationId xmlns:a16="http://schemas.microsoft.com/office/drawing/2014/main" id="{C090B6BF-6FB6-A97C-F27E-1FA886A8FF84}"/>
              </a:ext>
            </a:extLst>
          </p:cNvPr>
          <p:cNvCxnSpPr>
            <a:cxnSpLocks/>
            <a:endCxn id="1386" idx="1"/>
          </p:cNvCxnSpPr>
          <p:nvPr/>
        </p:nvCxnSpPr>
        <p:spPr>
          <a:xfrm>
            <a:off x="43412226" y="7246823"/>
            <a:ext cx="675830" cy="8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0" name="CuadroTexto 1379">
            <a:extLst>
              <a:ext uri="{FF2B5EF4-FFF2-40B4-BE49-F238E27FC236}">
                <a16:creationId xmlns:a16="http://schemas.microsoft.com/office/drawing/2014/main" id="{9246F678-29A0-600F-A8D9-D31BD50206F0}"/>
              </a:ext>
            </a:extLst>
          </p:cNvPr>
          <p:cNvSpPr txBox="1"/>
          <p:nvPr/>
        </p:nvSpPr>
        <p:spPr>
          <a:xfrm>
            <a:off x="42730057" y="7128277"/>
            <a:ext cx="7006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s-ES" sz="1000" b="1" dirty="0"/>
              <a:t>Objetivo</a:t>
            </a:r>
          </a:p>
        </p:txBody>
      </p:sp>
      <p:cxnSp>
        <p:nvCxnSpPr>
          <p:cNvPr id="1381" name="Conector recto 1380">
            <a:extLst>
              <a:ext uri="{FF2B5EF4-FFF2-40B4-BE49-F238E27FC236}">
                <a16:creationId xmlns:a16="http://schemas.microsoft.com/office/drawing/2014/main" id="{387E7527-9812-E215-4348-AADEA0311D0D}"/>
              </a:ext>
            </a:extLst>
          </p:cNvPr>
          <p:cNvCxnSpPr>
            <a:cxnSpLocks/>
            <a:stCxn id="108" idx="3"/>
            <a:endCxn id="1380" idx="1"/>
          </p:cNvCxnSpPr>
          <p:nvPr/>
        </p:nvCxnSpPr>
        <p:spPr>
          <a:xfrm>
            <a:off x="42425255" y="7246823"/>
            <a:ext cx="304802" cy="45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5" name="Rectángulo: esquinas redondeadas 1384">
            <a:extLst>
              <a:ext uri="{FF2B5EF4-FFF2-40B4-BE49-F238E27FC236}">
                <a16:creationId xmlns:a16="http://schemas.microsoft.com/office/drawing/2014/main" id="{BE2F1B87-8A3B-EF4C-1261-2D354B90928E}"/>
              </a:ext>
            </a:extLst>
          </p:cNvPr>
          <p:cNvSpPr/>
          <p:nvPr/>
        </p:nvSpPr>
        <p:spPr>
          <a:xfrm>
            <a:off x="44080799" y="5849258"/>
            <a:ext cx="3497030" cy="8128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b="1" dirty="0">
                <a:solidFill>
                  <a:schemeClr val="tx1"/>
                </a:solidFill>
              </a:rPr>
              <a:t>Primero</a:t>
            </a:r>
          </a:p>
          <a:p>
            <a:pPr algn="ctr" fontAlgn="base"/>
            <a:r>
              <a:rPr lang="es-ES" sz="1000" b="1" dirty="0">
                <a:solidFill>
                  <a:schemeClr val="bg1"/>
                </a:solidFill>
              </a:rPr>
              <a:t>Ayuda a determinar las mejoras que se puede hacer en los procesos estimados, basándose en las mejores prácticas CMMI</a:t>
            </a:r>
          </a:p>
        </p:txBody>
      </p:sp>
      <p:sp>
        <p:nvSpPr>
          <p:cNvPr id="1386" name="Rectángulo: esquinas redondeadas 1385">
            <a:extLst>
              <a:ext uri="{FF2B5EF4-FFF2-40B4-BE49-F238E27FC236}">
                <a16:creationId xmlns:a16="http://schemas.microsoft.com/office/drawing/2014/main" id="{D5EC530A-83C7-968E-AEC9-CE69A9119EEC}"/>
              </a:ext>
            </a:extLst>
          </p:cNvPr>
          <p:cNvSpPr/>
          <p:nvPr/>
        </p:nvSpPr>
        <p:spPr>
          <a:xfrm>
            <a:off x="44088056" y="6848716"/>
            <a:ext cx="3497030" cy="8128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b="1" dirty="0">
                <a:solidFill>
                  <a:schemeClr val="tx1"/>
                </a:solidFill>
              </a:rPr>
              <a:t>Segundo</a:t>
            </a:r>
          </a:p>
          <a:p>
            <a:pPr algn="ctr" fontAlgn="base"/>
            <a:r>
              <a:rPr lang="es-ES" sz="1000" b="1" dirty="0">
                <a:solidFill>
                  <a:schemeClr val="bg1"/>
                </a:solidFill>
              </a:rPr>
              <a:t>Para informar a las partes interesadas stakeholders sobre cómo van los procesos.</a:t>
            </a:r>
          </a:p>
        </p:txBody>
      </p:sp>
      <p:sp>
        <p:nvSpPr>
          <p:cNvPr id="1387" name="Rectángulo: esquinas redondeadas 1386">
            <a:extLst>
              <a:ext uri="{FF2B5EF4-FFF2-40B4-BE49-F238E27FC236}">
                <a16:creationId xmlns:a16="http://schemas.microsoft.com/office/drawing/2014/main" id="{7F122A6B-0164-F048-2626-3232210AA965}"/>
              </a:ext>
            </a:extLst>
          </p:cNvPr>
          <p:cNvSpPr/>
          <p:nvPr/>
        </p:nvSpPr>
        <p:spPr>
          <a:xfrm>
            <a:off x="44066284" y="7944703"/>
            <a:ext cx="3497030" cy="66352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s-ES" sz="1000" b="1" dirty="0">
                <a:solidFill>
                  <a:schemeClr val="tx1"/>
                </a:solidFill>
              </a:rPr>
              <a:t>Tercero</a:t>
            </a:r>
          </a:p>
          <a:p>
            <a:pPr algn="ctr" fontAlgn="base"/>
            <a:r>
              <a:rPr lang="es-ES" sz="1000" b="1" dirty="0">
                <a:solidFill>
                  <a:schemeClr val="bg1"/>
                </a:solidFill>
              </a:rPr>
              <a:t>Para cumplir con los requisitos contractuales.</a:t>
            </a:r>
          </a:p>
        </p:txBody>
      </p:sp>
      <p:cxnSp>
        <p:nvCxnSpPr>
          <p:cNvPr id="1388" name="Conector recto de flecha 1387">
            <a:extLst>
              <a:ext uri="{FF2B5EF4-FFF2-40B4-BE49-F238E27FC236}">
                <a16:creationId xmlns:a16="http://schemas.microsoft.com/office/drawing/2014/main" id="{5495CC82-26E0-25F9-3B8D-303B2CE74176}"/>
              </a:ext>
            </a:extLst>
          </p:cNvPr>
          <p:cNvCxnSpPr>
            <a:cxnSpLocks/>
            <a:endCxn id="1387" idx="1"/>
          </p:cNvCxnSpPr>
          <p:nvPr/>
        </p:nvCxnSpPr>
        <p:spPr>
          <a:xfrm>
            <a:off x="43441257" y="7413737"/>
            <a:ext cx="625027" cy="862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1" name="Conector recto de flecha 1390">
            <a:extLst>
              <a:ext uri="{FF2B5EF4-FFF2-40B4-BE49-F238E27FC236}">
                <a16:creationId xmlns:a16="http://schemas.microsoft.com/office/drawing/2014/main" id="{2D8DFDEB-4101-D295-3D97-8C91703CC57C}"/>
              </a:ext>
            </a:extLst>
          </p:cNvPr>
          <p:cNvCxnSpPr>
            <a:cxnSpLocks/>
            <a:endCxn id="1385" idx="1"/>
          </p:cNvCxnSpPr>
          <p:nvPr/>
        </p:nvCxnSpPr>
        <p:spPr>
          <a:xfrm flipV="1">
            <a:off x="43455771" y="6255659"/>
            <a:ext cx="625028" cy="7793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5" name="CuadroTexto 1394">
            <a:extLst>
              <a:ext uri="{FF2B5EF4-FFF2-40B4-BE49-F238E27FC236}">
                <a16:creationId xmlns:a16="http://schemas.microsoft.com/office/drawing/2014/main" id="{F2DC92DA-1845-4BE6-DFBE-F64D06637B22}"/>
              </a:ext>
            </a:extLst>
          </p:cNvPr>
          <p:cNvSpPr txBox="1"/>
          <p:nvPr/>
        </p:nvSpPr>
        <p:spPr>
          <a:xfrm>
            <a:off x="36938076" y="14022647"/>
            <a:ext cx="50186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s-ES" sz="1000" b="1" dirty="0"/>
              <a:t>Como elaborar una matriz d trazabilidad</a:t>
            </a:r>
          </a:p>
        </p:txBody>
      </p:sp>
      <p:cxnSp>
        <p:nvCxnSpPr>
          <p:cNvPr id="1396" name="Conector recto de flecha 1395">
            <a:extLst>
              <a:ext uri="{FF2B5EF4-FFF2-40B4-BE49-F238E27FC236}">
                <a16:creationId xmlns:a16="http://schemas.microsoft.com/office/drawing/2014/main" id="{51F6D18B-D0B4-8D36-B934-9745F611E06F}"/>
              </a:ext>
            </a:extLst>
          </p:cNvPr>
          <p:cNvCxnSpPr>
            <a:cxnSpLocks/>
          </p:cNvCxnSpPr>
          <p:nvPr/>
        </p:nvCxnSpPr>
        <p:spPr>
          <a:xfrm>
            <a:off x="39577286" y="13581624"/>
            <a:ext cx="0" cy="424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7" name="Conector recto de flecha 1396">
            <a:extLst>
              <a:ext uri="{FF2B5EF4-FFF2-40B4-BE49-F238E27FC236}">
                <a16:creationId xmlns:a16="http://schemas.microsoft.com/office/drawing/2014/main" id="{CBDAD365-AC97-8F13-3DFD-05F313BBD85A}"/>
              </a:ext>
            </a:extLst>
          </p:cNvPr>
          <p:cNvCxnSpPr>
            <a:cxnSpLocks/>
          </p:cNvCxnSpPr>
          <p:nvPr/>
        </p:nvCxnSpPr>
        <p:spPr>
          <a:xfrm>
            <a:off x="39587714" y="14259565"/>
            <a:ext cx="0" cy="424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01" name="Imagen 1400">
            <a:extLst>
              <a:ext uri="{FF2B5EF4-FFF2-40B4-BE49-F238E27FC236}">
                <a16:creationId xmlns:a16="http://schemas.microsoft.com/office/drawing/2014/main" id="{E69952DD-7C57-83A6-C5BA-569DABF50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53900" y="14735025"/>
            <a:ext cx="4064000" cy="3125144"/>
          </a:xfrm>
          <a:prstGeom prst="rect">
            <a:avLst/>
          </a:prstGeom>
        </p:spPr>
      </p:pic>
      <p:pic>
        <p:nvPicPr>
          <p:cNvPr id="1403" name="Imagen 1402">
            <a:extLst>
              <a:ext uri="{FF2B5EF4-FFF2-40B4-BE49-F238E27FC236}">
                <a16:creationId xmlns:a16="http://schemas.microsoft.com/office/drawing/2014/main" id="{AE4290F5-6573-EDAC-4328-8B20D2457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47550" y="17849850"/>
            <a:ext cx="404812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0443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1998</TotalTime>
  <Words>1152</Words>
  <Application>Microsoft Office PowerPoint</Application>
  <PresentationFormat>Personalizado</PresentationFormat>
  <Paragraphs>110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Gerson Jonnathan López Oviedo</dc:creator>
  <cp:lastModifiedBy>GERSON JONNATHAN LOPEZ OVIEDO</cp:lastModifiedBy>
  <cp:revision>1</cp:revision>
  <dcterms:created xsi:type="dcterms:W3CDTF">2025-08-03T04:07:37Z</dcterms:created>
  <dcterms:modified xsi:type="dcterms:W3CDTF">2025-08-11T01:17:51Z</dcterms:modified>
</cp:coreProperties>
</file>